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72" r:id="rId9"/>
    <p:sldId id="271" r:id="rId10"/>
    <p:sldId id="263" r:id="rId11"/>
    <p:sldId id="273" r:id="rId12"/>
    <p:sldId id="264" r:id="rId13"/>
    <p:sldId id="274" r:id="rId14"/>
    <p:sldId id="275" r:id="rId15"/>
    <p:sldId id="265" r:id="rId16"/>
    <p:sldId id="276" r:id="rId17"/>
    <p:sldId id="266" r:id="rId18"/>
    <p:sldId id="267" r:id="rId19"/>
    <p:sldId id="268" r:id="rId20"/>
    <p:sldId id="269" r:id="rId21"/>
    <p:sldId id="270" r:id="rId22"/>
  </p:sldIdLst>
  <p:sldSz cx="9144000" cy="5143500" type="screen16x9"/>
  <p:notesSz cx="6858000" cy="9144000"/>
  <p:embeddedFontLst>
    <p:embeddedFont>
      <p:font typeface="Gill Sans" panose="020B060402020202020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rLv+ntCTBfka7mjmWznOiKcC/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028E71-70FC-4EC1-B44D-9C10CE01F098}">
  <a:tblStyle styleId="{F1028E71-70FC-4EC1-B44D-9C10CE01F09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8"/>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8"/>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8"/>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9"/>
          <p:cNvSpPr/>
          <p:nvPr/>
        </p:nvSpPr>
        <p:spPr>
          <a:xfrm>
            <a:off x="448092" y="449794"/>
            <a:ext cx="8238600" cy="9441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21" name="Google Shape;21;p19"/>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3" name="Google Shape;23;p19"/>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9"/>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9"/>
          <p:cNvSpPr/>
          <p:nvPr/>
        </p:nvSpPr>
        <p:spPr>
          <a:xfrm>
            <a:off x="448092" y="449794"/>
            <a:ext cx="8238600" cy="9441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20"/>
          <p:cNvSpPr/>
          <p:nvPr/>
        </p:nvSpPr>
        <p:spPr>
          <a:xfrm>
            <a:off x="448091" y="2314324"/>
            <a:ext cx="8240100" cy="2478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0"/>
          <p:cNvSpPr txBox="1">
            <a:spLocks noGrp="1"/>
          </p:cNvSpPr>
          <p:nvPr>
            <p:ph type="ctrTitle"/>
          </p:nvPr>
        </p:nvSpPr>
        <p:spPr>
          <a:xfrm>
            <a:off x="581192" y="742950"/>
            <a:ext cx="7989900" cy="1128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0"/>
          <p:cNvSpPr txBox="1">
            <a:spLocks noGrp="1"/>
          </p:cNvSpPr>
          <p:nvPr>
            <p:ph type="subTitle" idx="1"/>
          </p:nvPr>
        </p:nvSpPr>
        <p:spPr>
          <a:xfrm>
            <a:off x="581192" y="1871583"/>
            <a:ext cx="7989900" cy="442800"/>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31" name="Google Shape;31;p20"/>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0"/>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6C8089"/>
                </a:solidFill>
                <a:latin typeface="Gill Sans"/>
                <a:ea typeface="Gill Sans"/>
                <a:cs typeface="Gill Sans"/>
                <a:sym typeface="Gill Sans"/>
              </a:defRPr>
            </a:lvl1pPr>
            <a:lvl2pPr marL="0" lvl="1" indent="0" algn="r">
              <a:spcBef>
                <a:spcPts val="0"/>
              </a:spcBef>
              <a:buNone/>
              <a:defRPr sz="900">
                <a:solidFill>
                  <a:srgbClr val="6C8089"/>
                </a:solidFill>
                <a:latin typeface="Gill Sans"/>
                <a:ea typeface="Gill Sans"/>
                <a:cs typeface="Gill Sans"/>
                <a:sym typeface="Gill Sans"/>
              </a:defRPr>
            </a:lvl2pPr>
            <a:lvl3pPr marL="0" lvl="2" indent="0" algn="r">
              <a:spcBef>
                <a:spcPts val="0"/>
              </a:spcBef>
              <a:buNone/>
              <a:defRPr sz="900">
                <a:solidFill>
                  <a:srgbClr val="6C8089"/>
                </a:solidFill>
                <a:latin typeface="Gill Sans"/>
                <a:ea typeface="Gill Sans"/>
                <a:cs typeface="Gill Sans"/>
                <a:sym typeface="Gill Sans"/>
              </a:defRPr>
            </a:lvl3pPr>
            <a:lvl4pPr marL="0" lvl="3" indent="0" algn="r">
              <a:spcBef>
                <a:spcPts val="0"/>
              </a:spcBef>
              <a:buNone/>
              <a:defRPr sz="900">
                <a:solidFill>
                  <a:srgbClr val="6C8089"/>
                </a:solidFill>
                <a:latin typeface="Gill Sans"/>
                <a:ea typeface="Gill Sans"/>
                <a:cs typeface="Gill Sans"/>
                <a:sym typeface="Gill Sans"/>
              </a:defRPr>
            </a:lvl4pPr>
            <a:lvl5pPr marL="0" lvl="4" indent="0" algn="r">
              <a:spcBef>
                <a:spcPts val="0"/>
              </a:spcBef>
              <a:buNone/>
              <a:defRPr sz="900">
                <a:solidFill>
                  <a:srgbClr val="6C8089"/>
                </a:solidFill>
                <a:latin typeface="Gill Sans"/>
                <a:ea typeface="Gill Sans"/>
                <a:cs typeface="Gill Sans"/>
                <a:sym typeface="Gill Sans"/>
              </a:defRPr>
            </a:lvl5pPr>
            <a:lvl6pPr marL="0" lvl="5" indent="0" algn="r">
              <a:spcBef>
                <a:spcPts val="0"/>
              </a:spcBef>
              <a:buNone/>
              <a:defRPr sz="900">
                <a:solidFill>
                  <a:srgbClr val="6C8089"/>
                </a:solidFill>
                <a:latin typeface="Gill Sans"/>
                <a:ea typeface="Gill Sans"/>
                <a:cs typeface="Gill Sans"/>
                <a:sym typeface="Gill Sans"/>
              </a:defRPr>
            </a:lvl6pPr>
            <a:lvl7pPr marL="0" lvl="6" indent="0" algn="r">
              <a:spcBef>
                <a:spcPts val="0"/>
              </a:spcBef>
              <a:buNone/>
              <a:defRPr sz="900">
                <a:solidFill>
                  <a:srgbClr val="6C8089"/>
                </a:solidFill>
                <a:latin typeface="Gill Sans"/>
                <a:ea typeface="Gill Sans"/>
                <a:cs typeface="Gill Sans"/>
                <a:sym typeface="Gill Sans"/>
              </a:defRPr>
            </a:lvl7pPr>
            <a:lvl8pPr marL="0" lvl="7" indent="0" algn="r">
              <a:spcBef>
                <a:spcPts val="0"/>
              </a:spcBef>
              <a:buNone/>
              <a:defRPr sz="900">
                <a:solidFill>
                  <a:srgbClr val="6C8089"/>
                </a:solidFill>
                <a:latin typeface="Gill Sans"/>
                <a:ea typeface="Gill Sans"/>
                <a:cs typeface="Gill Sans"/>
                <a:sym typeface="Gill Sans"/>
              </a:defRPr>
            </a:lvl8pPr>
            <a:lvl9pPr marL="0" lvl="8" indent="0" algn="r">
              <a:spcBef>
                <a:spcPts val="0"/>
              </a:spcBef>
              <a:buNone/>
              <a:defRPr sz="900">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1"/>
          <p:cNvSpPr/>
          <p:nvPr/>
        </p:nvSpPr>
        <p:spPr>
          <a:xfrm>
            <a:off x="452646" y="3856480"/>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1"/>
          <p:cNvSpPr txBox="1">
            <a:spLocks noGrp="1"/>
          </p:cNvSpPr>
          <p:nvPr>
            <p:ph type="title"/>
          </p:nvPr>
        </p:nvSpPr>
        <p:spPr>
          <a:xfrm>
            <a:off x="581193" y="2277430"/>
            <a:ext cx="7989900" cy="1128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body" idx="1"/>
          </p:nvPr>
        </p:nvSpPr>
        <p:spPr>
          <a:xfrm>
            <a:off x="581193" y="3406063"/>
            <a:ext cx="7989900" cy="4503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38" name="Google Shape;38;p21"/>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1"/>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6C8089"/>
                </a:solidFill>
                <a:latin typeface="Gill Sans"/>
                <a:ea typeface="Gill Sans"/>
                <a:cs typeface="Gill Sans"/>
                <a:sym typeface="Gill Sans"/>
              </a:defRPr>
            </a:lvl1pPr>
            <a:lvl2pPr marL="0" lvl="1" indent="0" algn="r">
              <a:spcBef>
                <a:spcPts val="0"/>
              </a:spcBef>
              <a:buNone/>
              <a:defRPr sz="900">
                <a:solidFill>
                  <a:srgbClr val="6C8089"/>
                </a:solidFill>
                <a:latin typeface="Gill Sans"/>
                <a:ea typeface="Gill Sans"/>
                <a:cs typeface="Gill Sans"/>
                <a:sym typeface="Gill Sans"/>
              </a:defRPr>
            </a:lvl2pPr>
            <a:lvl3pPr marL="0" lvl="2" indent="0" algn="r">
              <a:spcBef>
                <a:spcPts val="0"/>
              </a:spcBef>
              <a:buNone/>
              <a:defRPr sz="900">
                <a:solidFill>
                  <a:srgbClr val="6C8089"/>
                </a:solidFill>
                <a:latin typeface="Gill Sans"/>
                <a:ea typeface="Gill Sans"/>
                <a:cs typeface="Gill Sans"/>
                <a:sym typeface="Gill Sans"/>
              </a:defRPr>
            </a:lvl3pPr>
            <a:lvl4pPr marL="0" lvl="3" indent="0" algn="r">
              <a:spcBef>
                <a:spcPts val="0"/>
              </a:spcBef>
              <a:buNone/>
              <a:defRPr sz="900">
                <a:solidFill>
                  <a:srgbClr val="6C8089"/>
                </a:solidFill>
                <a:latin typeface="Gill Sans"/>
                <a:ea typeface="Gill Sans"/>
                <a:cs typeface="Gill Sans"/>
                <a:sym typeface="Gill Sans"/>
              </a:defRPr>
            </a:lvl4pPr>
            <a:lvl5pPr marL="0" lvl="4" indent="0" algn="r">
              <a:spcBef>
                <a:spcPts val="0"/>
              </a:spcBef>
              <a:buNone/>
              <a:defRPr sz="900">
                <a:solidFill>
                  <a:srgbClr val="6C8089"/>
                </a:solidFill>
                <a:latin typeface="Gill Sans"/>
                <a:ea typeface="Gill Sans"/>
                <a:cs typeface="Gill Sans"/>
                <a:sym typeface="Gill Sans"/>
              </a:defRPr>
            </a:lvl5pPr>
            <a:lvl6pPr marL="0" lvl="5" indent="0" algn="r">
              <a:spcBef>
                <a:spcPts val="0"/>
              </a:spcBef>
              <a:buNone/>
              <a:defRPr sz="900">
                <a:solidFill>
                  <a:srgbClr val="6C8089"/>
                </a:solidFill>
                <a:latin typeface="Gill Sans"/>
                <a:ea typeface="Gill Sans"/>
                <a:cs typeface="Gill Sans"/>
                <a:sym typeface="Gill Sans"/>
              </a:defRPr>
            </a:lvl6pPr>
            <a:lvl7pPr marL="0" lvl="6" indent="0" algn="r">
              <a:spcBef>
                <a:spcPts val="0"/>
              </a:spcBef>
              <a:buNone/>
              <a:defRPr sz="900">
                <a:solidFill>
                  <a:srgbClr val="6C8089"/>
                </a:solidFill>
                <a:latin typeface="Gill Sans"/>
                <a:ea typeface="Gill Sans"/>
                <a:cs typeface="Gill Sans"/>
                <a:sym typeface="Gill Sans"/>
              </a:defRPr>
            </a:lvl7pPr>
            <a:lvl8pPr marL="0" lvl="7" indent="0" algn="r">
              <a:spcBef>
                <a:spcPts val="0"/>
              </a:spcBef>
              <a:buNone/>
              <a:defRPr sz="900">
                <a:solidFill>
                  <a:srgbClr val="6C8089"/>
                </a:solidFill>
                <a:latin typeface="Gill Sans"/>
                <a:ea typeface="Gill Sans"/>
                <a:cs typeface="Gill Sans"/>
                <a:sym typeface="Gill Sans"/>
              </a:defRPr>
            </a:lvl8pPr>
            <a:lvl9pPr marL="0" lvl="8" indent="0" algn="r">
              <a:spcBef>
                <a:spcPts val="0"/>
              </a:spcBef>
              <a:buNone/>
              <a:defRPr sz="900">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22"/>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2"/>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body" idx="1"/>
          </p:nvPr>
        </p:nvSpPr>
        <p:spPr>
          <a:xfrm>
            <a:off x="581192" y="1671002"/>
            <a:ext cx="3899400" cy="2724900"/>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5" name="Google Shape;45;p22"/>
          <p:cNvSpPr txBox="1">
            <a:spLocks noGrp="1"/>
          </p:cNvSpPr>
          <p:nvPr>
            <p:ph type="body" idx="2"/>
          </p:nvPr>
        </p:nvSpPr>
        <p:spPr>
          <a:xfrm>
            <a:off x="4663282" y="1671002"/>
            <a:ext cx="3907800" cy="2724900"/>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6" name="Google Shape;46;p22"/>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23"/>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3"/>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Gill San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body" idx="1"/>
          </p:nvPr>
        </p:nvSpPr>
        <p:spPr>
          <a:xfrm>
            <a:off x="887219" y="1671002"/>
            <a:ext cx="3593400" cy="432300"/>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3" name="Google Shape;53;p23"/>
          <p:cNvSpPr txBox="1">
            <a:spLocks noGrp="1"/>
          </p:cNvSpPr>
          <p:nvPr>
            <p:ph type="body" idx="2"/>
          </p:nvPr>
        </p:nvSpPr>
        <p:spPr>
          <a:xfrm>
            <a:off x="581192" y="2194538"/>
            <a:ext cx="3899400" cy="22011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4" name="Google Shape;54;p23"/>
          <p:cNvSpPr txBox="1">
            <a:spLocks noGrp="1"/>
          </p:cNvSpPr>
          <p:nvPr>
            <p:ph type="body" idx="3"/>
          </p:nvPr>
        </p:nvSpPr>
        <p:spPr>
          <a:xfrm>
            <a:off x="4969308" y="1671002"/>
            <a:ext cx="3601500" cy="432300"/>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5" name="Google Shape;55;p23"/>
          <p:cNvSpPr txBox="1">
            <a:spLocks noGrp="1"/>
          </p:cNvSpPr>
          <p:nvPr>
            <p:ph type="body" idx="4"/>
          </p:nvPr>
        </p:nvSpPr>
        <p:spPr>
          <a:xfrm>
            <a:off x="4663282" y="2194538"/>
            <a:ext cx="3907800" cy="22011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6" name="Google Shape;56;p23"/>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3"/>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24"/>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4"/>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4"/>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5"/>
          <p:cNvSpPr/>
          <p:nvPr/>
        </p:nvSpPr>
        <p:spPr>
          <a:xfrm>
            <a:off x="452646" y="3856480"/>
            <a:ext cx="8238600" cy="956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5"/>
          <p:cNvSpPr txBox="1">
            <a:spLocks noGrp="1"/>
          </p:cNvSpPr>
          <p:nvPr>
            <p:ph type="title"/>
          </p:nvPr>
        </p:nvSpPr>
        <p:spPr>
          <a:xfrm>
            <a:off x="581352" y="3946722"/>
            <a:ext cx="3536700" cy="517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6C8089"/>
              </a:buClr>
              <a:buSzPts val="2000"/>
              <a:buFont typeface="Gill Sans"/>
              <a:buNone/>
              <a:defRPr sz="2000" b="0">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5"/>
          <p:cNvSpPr txBox="1">
            <a:spLocks noGrp="1"/>
          </p:cNvSpPr>
          <p:nvPr>
            <p:ph type="body" idx="1"/>
          </p:nvPr>
        </p:nvSpPr>
        <p:spPr>
          <a:xfrm>
            <a:off x="446399" y="450900"/>
            <a:ext cx="8240400" cy="31536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69" name="Google Shape;69;p25"/>
          <p:cNvSpPr txBox="1">
            <a:spLocks noGrp="1"/>
          </p:cNvSpPr>
          <p:nvPr>
            <p:ph type="body" idx="2"/>
          </p:nvPr>
        </p:nvSpPr>
        <p:spPr>
          <a:xfrm>
            <a:off x="4305617" y="3946721"/>
            <a:ext cx="4265400" cy="517200"/>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0" name="Google Shape;70;p25"/>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6C8089"/>
                </a:solidFill>
                <a:latin typeface="Gill Sans"/>
                <a:ea typeface="Gill Sans"/>
                <a:cs typeface="Gill Sans"/>
                <a:sym typeface="Gill Sans"/>
              </a:defRPr>
            </a:lvl1pPr>
            <a:lvl2pPr marL="0" lvl="1" indent="0" algn="r">
              <a:spcBef>
                <a:spcPts val="0"/>
              </a:spcBef>
              <a:buNone/>
              <a:defRPr sz="900">
                <a:solidFill>
                  <a:srgbClr val="6C8089"/>
                </a:solidFill>
                <a:latin typeface="Gill Sans"/>
                <a:ea typeface="Gill Sans"/>
                <a:cs typeface="Gill Sans"/>
                <a:sym typeface="Gill Sans"/>
              </a:defRPr>
            </a:lvl2pPr>
            <a:lvl3pPr marL="0" lvl="2" indent="0" algn="r">
              <a:spcBef>
                <a:spcPts val="0"/>
              </a:spcBef>
              <a:buNone/>
              <a:defRPr sz="900">
                <a:solidFill>
                  <a:srgbClr val="6C8089"/>
                </a:solidFill>
                <a:latin typeface="Gill Sans"/>
                <a:ea typeface="Gill Sans"/>
                <a:cs typeface="Gill Sans"/>
                <a:sym typeface="Gill Sans"/>
              </a:defRPr>
            </a:lvl3pPr>
            <a:lvl4pPr marL="0" lvl="3" indent="0" algn="r">
              <a:spcBef>
                <a:spcPts val="0"/>
              </a:spcBef>
              <a:buNone/>
              <a:defRPr sz="900">
                <a:solidFill>
                  <a:srgbClr val="6C8089"/>
                </a:solidFill>
                <a:latin typeface="Gill Sans"/>
                <a:ea typeface="Gill Sans"/>
                <a:cs typeface="Gill Sans"/>
                <a:sym typeface="Gill Sans"/>
              </a:defRPr>
            </a:lvl4pPr>
            <a:lvl5pPr marL="0" lvl="4" indent="0" algn="r">
              <a:spcBef>
                <a:spcPts val="0"/>
              </a:spcBef>
              <a:buNone/>
              <a:defRPr sz="900">
                <a:solidFill>
                  <a:srgbClr val="6C8089"/>
                </a:solidFill>
                <a:latin typeface="Gill Sans"/>
                <a:ea typeface="Gill Sans"/>
                <a:cs typeface="Gill Sans"/>
                <a:sym typeface="Gill Sans"/>
              </a:defRPr>
            </a:lvl5pPr>
            <a:lvl6pPr marL="0" lvl="5" indent="0" algn="r">
              <a:spcBef>
                <a:spcPts val="0"/>
              </a:spcBef>
              <a:buNone/>
              <a:defRPr sz="900">
                <a:solidFill>
                  <a:srgbClr val="6C8089"/>
                </a:solidFill>
                <a:latin typeface="Gill Sans"/>
                <a:ea typeface="Gill Sans"/>
                <a:cs typeface="Gill Sans"/>
                <a:sym typeface="Gill Sans"/>
              </a:defRPr>
            </a:lvl6pPr>
            <a:lvl7pPr marL="0" lvl="6" indent="0" algn="r">
              <a:spcBef>
                <a:spcPts val="0"/>
              </a:spcBef>
              <a:buNone/>
              <a:defRPr sz="900">
                <a:solidFill>
                  <a:srgbClr val="6C8089"/>
                </a:solidFill>
                <a:latin typeface="Gill Sans"/>
                <a:ea typeface="Gill Sans"/>
                <a:cs typeface="Gill Sans"/>
                <a:sym typeface="Gill Sans"/>
              </a:defRPr>
            </a:lvl7pPr>
            <a:lvl8pPr marL="0" lvl="7" indent="0" algn="r">
              <a:spcBef>
                <a:spcPts val="0"/>
              </a:spcBef>
              <a:buNone/>
              <a:defRPr sz="900">
                <a:solidFill>
                  <a:srgbClr val="6C8089"/>
                </a:solidFill>
                <a:latin typeface="Gill Sans"/>
                <a:ea typeface="Gill Sans"/>
                <a:cs typeface="Gill Sans"/>
                <a:sym typeface="Gill Sans"/>
              </a:defRPr>
            </a:lvl8pPr>
            <a:lvl9pPr marL="0" lvl="8" indent="0" algn="r">
              <a:spcBef>
                <a:spcPts val="0"/>
              </a:spcBef>
              <a:buNone/>
              <a:defRPr sz="900">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26"/>
          <p:cNvSpPr txBox="1">
            <a:spLocks noGrp="1"/>
          </p:cNvSpPr>
          <p:nvPr>
            <p:ph type="title"/>
          </p:nvPr>
        </p:nvSpPr>
        <p:spPr>
          <a:xfrm>
            <a:off x="581192" y="3520042"/>
            <a:ext cx="7989900" cy="4251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6"/>
          <p:cNvSpPr>
            <a:spLocks noGrp="1"/>
          </p:cNvSpPr>
          <p:nvPr>
            <p:ph type="pic" idx="2"/>
          </p:nvPr>
        </p:nvSpPr>
        <p:spPr>
          <a:xfrm>
            <a:off x="448093" y="449794"/>
            <a:ext cx="8238600" cy="2667900"/>
          </a:xfrm>
          <a:prstGeom prst="rect">
            <a:avLst/>
          </a:prstGeom>
          <a:noFill/>
          <a:ln>
            <a:noFill/>
          </a:ln>
        </p:spPr>
      </p:sp>
      <p:sp>
        <p:nvSpPr>
          <p:cNvPr id="76" name="Google Shape;76;p26"/>
          <p:cNvSpPr txBox="1">
            <a:spLocks noGrp="1"/>
          </p:cNvSpPr>
          <p:nvPr>
            <p:ph type="body" idx="1"/>
          </p:nvPr>
        </p:nvSpPr>
        <p:spPr>
          <a:xfrm>
            <a:off x="581192" y="3945095"/>
            <a:ext cx="7989900" cy="449100"/>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7" name="Google Shape;77;p26"/>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27"/>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7"/>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3214444" y="-962398"/>
            <a:ext cx="2723100" cy="79899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4" name="Google Shape;84;p27"/>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28"/>
          <p:cNvSpPr/>
          <p:nvPr/>
        </p:nvSpPr>
        <p:spPr>
          <a:xfrm>
            <a:off x="6629400" y="449794"/>
            <a:ext cx="2057400" cy="436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8"/>
          <p:cNvSpPr txBox="1">
            <a:spLocks noGrp="1"/>
          </p:cNvSpPr>
          <p:nvPr>
            <p:ph type="title"/>
          </p:nvPr>
        </p:nvSpPr>
        <p:spPr>
          <a:xfrm rot="5400000">
            <a:off x="5437323" y="1698994"/>
            <a:ext cx="3887400" cy="15030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8"/>
          <p:cNvSpPr txBox="1">
            <a:spLocks noGrp="1"/>
          </p:cNvSpPr>
          <p:nvPr>
            <p:ph type="body" idx="1"/>
          </p:nvPr>
        </p:nvSpPr>
        <p:spPr>
          <a:xfrm rot="5400000">
            <a:off x="1598551" y="-510656"/>
            <a:ext cx="3887400" cy="59223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91" name="Google Shape;91;p28"/>
          <p:cNvSpPr txBox="1">
            <a:spLocks noGrp="1"/>
          </p:cNvSpPr>
          <p:nvPr>
            <p:ph type="dt" idx="10"/>
          </p:nvPr>
        </p:nvSpPr>
        <p:spPr>
          <a:xfrm>
            <a:off x="6745255" y="4467102"/>
            <a:ext cx="947700" cy="2739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6C80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8"/>
          <p:cNvSpPr txBox="1">
            <a:spLocks noGrp="1"/>
          </p:cNvSpPr>
          <p:nvPr>
            <p:ph type="ftr" idx="11"/>
          </p:nvPr>
        </p:nvSpPr>
        <p:spPr>
          <a:xfrm>
            <a:off x="581192" y="4463858"/>
            <a:ext cx="59223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8"/>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6C8089"/>
                </a:solidFill>
                <a:latin typeface="Gill Sans"/>
                <a:ea typeface="Gill Sans"/>
                <a:cs typeface="Gill Sans"/>
                <a:sym typeface="Gill Sans"/>
              </a:defRPr>
            </a:lvl1pPr>
            <a:lvl2pPr marL="0" lvl="1" indent="0" algn="r">
              <a:spcBef>
                <a:spcPts val="0"/>
              </a:spcBef>
              <a:buNone/>
              <a:defRPr sz="900">
                <a:solidFill>
                  <a:srgbClr val="6C8089"/>
                </a:solidFill>
                <a:latin typeface="Gill Sans"/>
                <a:ea typeface="Gill Sans"/>
                <a:cs typeface="Gill Sans"/>
                <a:sym typeface="Gill Sans"/>
              </a:defRPr>
            </a:lvl2pPr>
            <a:lvl3pPr marL="0" lvl="2" indent="0" algn="r">
              <a:spcBef>
                <a:spcPts val="0"/>
              </a:spcBef>
              <a:buNone/>
              <a:defRPr sz="900">
                <a:solidFill>
                  <a:srgbClr val="6C8089"/>
                </a:solidFill>
                <a:latin typeface="Gill Sans"/>
                <a:ea typeface="Gill Sans"/>
                <a:cs typeface="Gill Sans"/>
                <a:sym typeface="Gill Sans"/>
              </a:defRPr>
            </a:lvl3pPr>
            <a:lvl4pPr marL="0" lvl="3" indent="0" algn="r">
              <a:spcBef>
                <a:spcPts val="0"/>
              </a:spcBef>
              <a:buNone/>
              <a:defRPr sz="900">
                <a:solidFill>
                  <a:srgbClr val="6C8089"/>
                </a:solidFill>
                <a:latin typeface="Gill Sans"/>
                <a:ea typeface="Gill Sans"/>
                <a:cs typeface="Gill Sans"/>
                <a:sym typeface="Gill Sans"/>
              </a:defRPr>
            </a:lvl4pPr>
            <a:lvl5pPr marL="0" lvl="4" indent="0" algn="r">
              <a:spcBef>
                <a:spcPts val="0"/>
              </a:spcBef>
              <a:buNone/>
              <a:defRPr sz="900">
                <a:solidFill>
                  <a:srgbClr val="6C8089"/>
                </a:solidFill>
                <a:latin typeface="Gill Sans"/>
                <a:ea typeface="Gill Sans"/>
                <a:cs typeface="Gill Sans"/>
                <a:sym typeface="Gill Sans"/>
              </a:defRPr>
            </a:lvl5pPr>
            <a:lvl6pPr marL="0" lvl="5" indent="0" algn="r">
              <a:spcBef>
                <a:spcPts val="0"/>
              </a:spcBef>
              <a:buNone/>
              <a:defRPr sz="900">
                <a:solidFill>
                  <a:srgbClr val="6C8089"/>
                </a:solidFill>
                <a:latin typeface="Gill Sans"/>
                <a:ea typeface="Gill Sans"/>
                <a:cs typeface="Gill Sans"/>
                <a:sym typeface="Gill Sans"/>
              </a:defRPr>
            </a:lvl6pPr>
            <a:lvl7pPr marL="0" lvl="6" indent="0" algn="r">
              <a:spcBef>
                <a:spcPts val="0"/>
              </a:spcBef>
              <a:buNone/>
              <a:defRPr sz="900">
                <a:solidFill>
                  <a:srgbClr val="6C8089"/>
                </a:solidFill>
                <a:latin typeface="Gill Sans"/>
                <a:ea typeface="Gill Sans"/>
                <a:cs typeface="Gill Sans"/>
                <a:sym typeface="Gill Sans"/>
              </a:defRPr>
            </a:lvl7pPr>
            <a:lvl8pPr marL="0" lvl="7" indent="0" algn="r">
              <a:spcBef>
                <a:spcPts val="0"/>
              </a:spcBef>
              <a:buNone/>
              <a:defRPr sz="900">
                <a:solidFill>
                  <a:srgbClr val="6C8089"/>
                </a:solidFill>
                <a:latin typeface="Gill Sans"/>
                <a:ea typeface="Gill Sans"/>
                <a:cs typeface="Gill Sans"/>
                <a:sym typeface="Gill Sans"/>
              </a:defRPr>
            </a:lvl8pPr>
            <a:lvl9pPr marL="0" lvl="8" indent="0" algn="r">
              <a:spcBef>
                <a:spcPts val="0"/>
              </a:spcBef>
              <a:buNone/>
              <a:defRPr sz="900">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7" name="Google Shape;7;p17"/>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7"/>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7"/>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7"/>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sym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sym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sym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sym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sym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sym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sym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sym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17"/>
          <p:cNvSpPr/>
          <p:nvPr/>
        </p:nvSpPr>
        <p:spPr>
          <a:xfrm>
            <a:off x="448091" y="330994"/>
            <a:ext cx="2719800" cy="81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2" name="Google Shape;12;p17"/>
          <p:cNvSpPr/>
          <p:nvPr/>
        </p:nvSpPr>
        <p:spPr>
          <a:xfrm>
            <a:off x="5976001" y="330994"/>
            <a:ext cx="2710800" cy="81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3" name="Google Shape;13;p17"/>
          <p:cNvSpPr/>
          <p:nvPr/>
        </p:nvSpPr>
        <p:spPr>
          <a:xfrm>
            <a:off x="3216601" y="330994"/>
            <a:ext cx="2710800" cy="810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pic>
        <p:nvPicPr>
          <p:cNvPr id="14" name="Google Shape;14;p17" descr="A picture containing symbol, logo, graphics, emblem&#10;&#10;Description automatically generated"/>
          <p:cNvPicPr preferRelativeResize="0"/>
          <p:nvPr/>
        </p:nvPicPr>
        <p:blipFill rotWithShape="1">
          <a:blip r:embed="rId13">
            <a:alphaModFix/>
          </a:blip>
          <a:srcRect/>
          <a:stretch/>
        </p:blipFill>
        <p:spPr>
          <a:xfrm>
            <a:off x="8735401" y="40945"/>
            <a:ext cx="440355" cy="3395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p:nvPr/>
        </p:nvSpPr>
        <p:spPr>
          <a:xfrm>
            <a:off x="577124" y="1691399"/>
            <a:ext cx="7989900" cy="364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1600"/>
              <a:buFont typeface="Gill Sans"/>
              <a:buNone/>
            </a:pPr>
            <a:r>
              <a:rPr lang="en-US" sz="1600" b="1" cap="none" dirty="0">
                <a:solidFill>
                  <a:schemeClr val="dk1"/>
                </a:solidFill>
                <a:latin typeface="Gill Sans"/>
                <a:ea typeface="Gill Sans"/>
                <a:cs typeface="Gill Sans"/>
                <a:sym typeface="Gill Sans"/>
              </a:rPr>
              <a:t>MINI PROJECT 2A</a:t>
            </a:r>
            <a:endParaRPr dirty="0"/>
          </a:p>
        </p:txBody>
      </p:sp>
      <p:sp>
        <p:nvSpPr>
          <p:cNvPr id="99" name="Google Shape;99;p1"/>
          <p:cNvSpPr txBox="1"/>
          <p:nvPr/>
        </p:nvSpPr>
        <p:spPr>
          <a:xfrm>
            <a:off x="465369" y="2817401"/>
            <a:ext cx="7688400" cy="13020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chemeClr val="accent2"/>
              </a:buClr>
              <a:buSzPts val="1288"/>
              <a:buFont typeface="Noto Sans Symbols"/>
              <a:buNone/>
            </a:pPr>
            <a:r>
              <a:rPr lang="en-US" sz="1400" b="1" dirty="0">
                <a:solidFill>
                  <a:schemeClr val="dk2"/>
                </a:solidFill>
                <a:latin typeface="Gill Sans"/>
                <a:ea typeface="Gill Sans"/>
                <a:cs typeface="Gill Sans"/>
                <a:sym typeface="Gill Sans"/>
              </a:rPr>
              <a:t>Team Members: </a:t>
            </a:r>
            <a:endParaRPr dirty="0"/>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a:ea typeface="Gill Sans"/>
                <a:cs typeface="Gill Sans"/>
                <a:sym typeface="Gill Sans"/>
              </a:rPr>
              <a:t>1 </a:t>
            </a:r>
            <a:r>
              <a:rPr lang="en-US" sz="1400" dirty="0">
                <a:solidFill>
                  <a:schemeClr val="dk2"/>
                </a:solidFill>
                <a:latin typeface="Gill Sans" panose="020B0604020202020204" charset="0"/>
                <a:ea typeface="Gill Sans"/>
                <a:cs typeface="Gill Sans"/>
                <a:sym typeface="Gill Sans"/>
              </a:rPr>
              <a:t>Choudhry Abdul Rehman Mohd Asim</a:t>
            </a:r>
            <a:endParaRPr dirty="0">
              <a:latin typeface="Gill Sans" panose="020B0604020202020204" charset="0"/>
            </a:endParaRPr>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panose="020B0604020202020204" charset="0"/>
                <a:ea typeface="Gill Sans"/>
                <a:cs typeface="Gill Sans"/>
                <a:sym typeface="Gill Sans"/>
              </a:rPr>
              <a:t>2</a:t>
            </a:r>
            <a:r>
              <a:rPr lang="en-US" dirty="0">
                <a:solidFill>
                  <a:schemeClr val="dk2"/>
                </a:solidFill>
                <a:latin typeface="Gill Sans" panose="020B0604020202020204" charset="0"/>
                <a:ea typeface="Gill Sans"/>
                <a:cs typeface="Gill Sans"/>
                <a:sym typeface="Gill Sans"/>
              </a:rPr>
              <a:t> </a:t>
            </a:r>
            <a:r>
              <a:rPr lang="en-US" sz="1400" dirty="0">
                <a:solidFill>
                  <a:schemeClr val="dk2"/>
                </a:solidFill>
                <a:latin typeface="Gill Sans" panose="020B0604020202020204" charset="0"/>
                <a:ea typeface="Gill Sans"/>
                <a:cs typeface="Gill Sans"/>
                <a:sym typeface="Gill Sans"/>
              </a:rPr>
              <a:t>Sadriwala Mohammed Firoz</a:t>
            </a:r>
            <a:endParaRPr dirty="0">
              <a:latin typeface="Gill Sans" panose="020B0604020202020204" charset="0"/>
            </a:endParaRPr>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panose="020B0604020202020204" charset="0"/>
                <a:ea typeface="Gill Sans"/>
                <a:cs typeface="Gill Sans"/>
                <a:sym typeface="Gill Sans"/>
              </a:rPr>
              <a:t>3 Shaikh Adyan Ataullah</a:t>
            </a:r>
            <a:endParaRPr dirty="0">
              <a:latin typeface="Gill Sans" panose="020B0604020202020204" charset="0"/>
            </a:endParaRPr>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a:ea typeface="Gill Sans"/>
                <a:cs typeface="Gill Sans"/>
                <a:sym typeface="Gill Sans"/>
              </a:rPr>
              <a:t>4 Pathan Mugaira Zakeer</a:t>
            </a:r>
            <a:endParaRPr dirty="0"/>
          </a:p>
          <a:p>
            <a:pPr marL="306000" marR="0" lvl="0" indent="-224212" algn="ctr" rtl="0">
              <a:spcBef>
                <a:spcPts val="880"/>
              </a:spcBef>
              <a:spcAft>
                <a:spcPts val="0"/>
              </a:spcAft>
              <a:buClr>
                <a:schemeClr val="accent2"/>
              </a:buClr>
              <a:buSzPts val="1288"/>
              <a:buFont typeface="Noto Sans Symbols"/>
              <a:buNone/>
            </a:pPr>
            <a:endParaRPr sz="1400" dirty="0">
              <a:solidFill>
                <a:schemeClr val="dk2"/>
              </a:solidFill>
              <a:latin typeface="Gill Sans"/>
              <a:ea typeface="Gill Sans"/>
              <a:cs typeface="Gill Sans"/>
              <a:sym typeface="Gill Sans"/>
            </a:endParaRPr>
          </a:p>
        </p:txBody>
      </p:sp>
      <p:sp>
        <p:nvSpPr>
          <p:cNvPr id="100" name="Google Shape;100;p1"/>
          <p:cNvSpPr txBox="1"/>
          <p:nvPr/>
        </p:nvSpPr>
        <p:spPr>
          <a:xfrm>
            <a:off x="577124" y="4393200"/>
            <a:ext cx="7052700" cy="750300"/>
          </a:xfrm>
          <a:prstGeom prst="rect">
            <a:avLst/>
          </a:prstGeom>
          <a:noFill/>
          <a:ln>
            <a:noFill/>
          </a:ln>
        </p:spPr>
        <p:txBody>
          <a:bodyPr spcFirstLastPara="1" wrap="square" lIns="91425" tIns="45700" rIns="91425" bIns="45700" anchor="ctr" anchorCtr="0">
            <a:normAutofit/>
          </a:bodyPr>
          <a:lstStyle/>
          <a:p>
            <a:pPr marL="0" marR="0" lvl="0" indent="0" rtl="0">
              <a:spcBef>
                <a:spcPts val="0"/>
              </a:spcBef>
              <a:spcAft>
                <a:spcPts val="0"/>
              </a:spcAft>
              <a:buClr>
                <a:srgbClr val="343E42"/>
              </a:buClr>
              <a:buSzPts val="2610"/>
              <a:buFont typeface="Arial"/>
              <a:buNone/>
            </a:pPr>
            <a:r>
              <a:rPr lang="en-US" sz="1800" b="1" cap="none" dirty="0">
                <a:solidFill>
                  <a:schemeClr val="dk1"/>
                </a:solidFill>
                <a:latin typeface="Gill Sans"/>
                <a:ea typeface="Gill Sans"/>
                <a:cs typeface="Gill Sans"/>
                <a:sym typeface="Gill Sans"/>
              </a:rPr>
              <a:t>Guide: </a:t>
            </a:r>
            <a:r>
              <a:rPr lang="en-US" sz="1800" b="1" cap="none" dirty="0" err="1">
                <a:solidFill>
                  <a:schemeClr val="dk1"/>
                </a:solidFill>
                <a:latin typeface="Gill Sans"/>
                <a:ea typeface="Gill Sans"/>
                <a:cs typeface="Gill Sans"/>
                <a:sym typeface="Gill Sans"/>
              </a:rPr>
              <a:t>Prof.Manila</a:t>
            </a:r>
            <a:r>
              <a:rPr lang="en-US" sz="1800" b="1" cap="none" dirty="0">
                <a:solidFill>
                  <a:schemeClr val="dk1"/>
                </a:solidFill>
                <a:latin typeface="Gill Sans"/>
                <a:ea typeface="Gill Sans"/>
                <a:cs typeface="Gill Sans"/>
                <a:sym typeface="Gill Sans"/>
              </a:rPr>
              <a:t> Gupta </a:t>
            </a:r>
            <a:endParaRPr dirty="0"/>
          </a:p>
        </p:txBody>
      </p:sp>
      <p:sp>
        <p:nvSpPr>
          <p:cNvPr id="101" name="Google Shape;101;p1"/>
          <p:cNvSpPr txBox="1"/>
          <p:nvPr/>
        </p:nvSpPr>
        <p:spPr>
          <a:xfrm>
            <a:off x="577124" y="2187950"/>
            <a:ext cx="7989900" cy="497400"/>
          </a:xfrm>
          <a:prstGeom prst="rect">
            <a:avLst/>
          </a:prstGeom>
          <a:noFill/>
          <a:ln>
            <a:noFill/>
          </a:ln>
        </p:spPr>
        <p:txBody>
          <a:bodyPr spcFirstLastPara="1" wrap="square" lIns="91425" tIns="45700" rIns="91425" bIns="45700" anchor="t" anchorCtr="0">
            <a:normAutofit fontScale="25000" lnSpcReduction="20000"/>
          </a:bodyPr>
          <a:lstStyle/>
          <a:p>
            <a:r>
              <a:rPr lang="en-US" sz="12800" dirty="0">
                <a:solidFill>
                  <a:srgbClr val="FF0000"/>
                </a:solidFill>
              </a:rPr>
              <a:t>Food Donation and Redistribution Platform</a:t>
            </a:r>
          </a:p>
          <a:p>
            <a:br>
              <a:rPr lang="en-US" sz="4000" dirty="0"/>
            </a:br>
            <a:endParaRPr dirty="0"/>
          </a:p>
        </p:txBody>
      </p:sp>
      <p:pic>
        <p:nvPicPr>
          <p:cNvPr id="102" name="Google Shape;102;p1"/>
          <p:cNvPicPr preferRelativeResize="0"/>
          <p:nvPr/>
        </p:nvPicPr>
        <p:blipFill>
          <a:blip r:embed="rId3">
            <a:alphaModFix/>
          </a:blip>
          <a:stretch>
            <a:fillRect/>
          </a:stretch>
        </p:blipFill>
        <p:spPr>
          <a:xfrm>
            <a:off x="1747490" y="491086"/>
            <a:ext cx="5013319" cy="10872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sz="2800" b="0" cap="none" dirty="0">
                <a:solidFill>
                  <a:schemeClr val="lt1"/>
                </a:solidFill>
                <a:latin typeface="Gill Sans"/>
                <a:ea typeface="Gill Sans"/>
                <a:cs typeface="Gill Sans"/>
                <a:sym typeface="Gill Sans"/>
              </a:rPr>
              <a:t>ABSTRACT</a:t>
            </a:r>
            <a:endParaRPr dirty="0"/>
          </a:p>
        </p:txBody>
      </p:sp>
      <p:sp>
        <p:nvSpPr>
          <p:cNvPr id="108" name="Google Shape;108;p2"/>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Autofit/>
          </a:bodyPr>
          <a:lstStyle/>
          <a:p>
            <a:pPr marL="0" lvl="0" indent="0">
              <a:spcBef>
                <a:spcPts val="0"/>
              </a:spcBef>
              <a:buNone/>
            </a:pPr>
            <a:r>
              <a:rPr lang="en-US" dirty="0"/>
              <a:t>Food waste and hunger continue to be major global issues, often coexisting within the same communities. This project presents a web-based platform designed to bridge the gap between food donors  such as restaurants, households, and event organizers and receivers including NGOs, shelters, and individuals supporting the needy. The platform allows donors to post available food details, including type, quantity, and pickup location via Google Maps integration. Receivers can register their needs and preferences, enabling a smart matching system to suggest the most suitable donors based on proximity, food category, and urgency. By facilitating efficient coordination and real-time communication between donors and receivers, the system minimizes food wastage, promotes equitable distribution, and contributes to social welfare. The platform emphasizes sustainability, community engagement, and ethical food management practices.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sz="2800" b="0" cap="none">
                <a:solidFill>
                  <a:schemeClr val="lt1"/>
                </a:solidFill>
                <a:latin typeface="Gill Sans"/>
                <a:ea typeface="Gill Sans"/>
                <a:cs typeface="Gill Sans"/>
                <a:sym typeface="Gill Sans"/>
              </a:rPr>
              <a:t>TABLE OF CONTENTS</a:t>
            </a:r>
            <a:endParaRPr/>
          </a:p>
        </p:txBody>
      </p:sp>
      <p:sp>
        <p:nvSpPr>
          <p:cNvPr id="114" name="Google Shape;114;p3"/>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fontScale="92500" lnSpcReduction="20000"/>
          </a:bodyPr>
          <a:lstStyle/>
          <a:p>
            <a:pPr marL="306000" lvl="0" indent="-306000" algn="l" rtl="0">
              <a:spcBef>
                <a:spcPts val="0"/>
              </a:spcBef>
              <a:spcAft>
                <a:spcPts val="0"/>
              </a:spcAft>
              <a:buSzPts val="1656"/>
              <a:buChar char="⬛"/>
            </a:pPr>
            <a:r>
              <a:rPr lang="en-US" dirty="0"/>
              <a:t>1. Introduction</a:t>
            </a:r>
            <a:endParaRPr dirty="0"/>
          </a:p>
          <a:p>
            <a:pPr marL="306000" lvl="0" indent="-306000" algn="l" rtl="0">
              <a:spcBef>
                <a:spcPts val="960"/>
              </a:spcBef>
              <a:spcAft>
                <a:spcPts val="0"/>
              </a:spcAft>
              <a:buSzPts val="1656"/>
              <a:buChar char="⬛"/>
            </a:pPr>
            <a:r>
              <a:rPr lang="en-US" dirty="0"/>
              <a:t>2. Literature Review</a:t>
            </a:r>
            <a:endParaRPr dirty="0"/>
          </a:p>
          <a:p>
            <a:pPr marL="306000" lvl="0" indent="-306000" algn="l" rtl="0">
              <a:spcBef>
                <a:spcPts val="960"/>
              </a:spcBef>
              <a:spcAft>
                <a:spcPts val="0"/>
              </a:spcAft>
              <a:buSzPts val="1656"/>
              <a:buChar char="⬛"/>
            </a:pPr>
            <a:r>
              <a:rPr lang="en-US" dirty="0"/>
              <a:t>3. Working of Project</a:t>
            </a:r>
            <a:endParaRPr dirty="0"/>
          </a:p>
          <a:p>
            <a:pPr marL="306000" lvl="0" indent="-306000" algn="l" rtl="0">
              <a:spcBef>
                <a:spcPts val="960"/>
              </a:spcBef>
              <a:spcAft>
                <a:spcPts val="0"/>
              </a:spcAft>
              <a:buSzPts val="1656"/>
              <a:buChar char="⬛"/>
            </a:pPr>
            <a:r>
              <a:rPr lang="en-US" dirty="0"/>
              <a:t>4. Hardware / Software Details</a:t>
            </a:r>
            <a:endParaRPr dirty="0"/>
          </a:p>
          <a:p>
            <a:pPr marL="306000" lvl="0" indent="-306000" algn="l" rtl="0">
              <a:spcBef>
                <a:spcPts val="960"/>
              </a:spcBef>
              <a:spcAft>
                <a:spcPts val="0"/>
              </a:spcAft>
              <a:buSzPts val="1656"/>
              <a:buChar char="⬛"/>
            </a:pPr>
            <a:r>
              <a:rPr lang="en-US" dirty="0"/>
              <a:t>5. Output Screenshots</a:t>
            </a:r>
            <a:endParaRPr dirty="0"/>
          </a:p>
          <a:p>
            <a:pPr marL="306000" lvl="0" indent="-306000" algn="l" rtl="0">
              <a:spcBef>
                <a:spcPts val="960"/>
              </a:spcBef>
              <a:spcAft>
                <a:spcPts val="0"/>
              </a:spcAft>
              <a:buSzPts val="1656"/>
              <a:buChar char="⬛"/>
            </a:pPr>
            <a:r>
              <a:rPr lang="en-US" dirty="0"/>
              <a:t>6. Report Status</a:t>
            </a:r>
            <a:endParaRPr dirty="0"/>
          </a:p>
          <a:p>
            <a:pPr marL="306000" lvl="0" indent="-306000" algn="l" rtl="0">
              <a:spcBef>
                <a:spcPts val="960"/>
              </a:spcBef>
              <a:spcAft>
                <a:spcPts val="0"/>
              </a:spcAft>
              <a:buSzPts val="1656"/>
              <a:buChar char="⬛"/>
            </a:pPr>
            <a:r>
              <a:rPr lang="en-US" dirty="0"/>
              <a:t>7. Status of Completion</a:t>
            </a:r>
            <a:endParaRPr dirty="0"/>
          </a:p>
          <a:p>
            <a:pPr marL="306000" lvl="0" indent="-306000" algn="l" rtl="0">
              <a:spcBef>
                <a:spcPts val="960"/>
              </a:spcBef>
              <a:spcAft>
                <a:spcPts val="0"/>
              </a:spcAft>
              <a:buSzPts val="1656"/>
              <a:buChar char="⬛"/>
            </a:pPr>
            <a:r>
              <a:rPr lang="en-US" dirty="0"/>
              <a:t>8. Queries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566639" y="480970"/>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dirty="0"/>
              <a:t>INTRODUCTION</a:t>
            </a:r>
            <a:endParaRPr dirty="0"/>
          </a:p>
        </p:txBody>
      </p:sp>
      <p:sp>
        <p:nvSpPr>
          <p:cNvPr id="120" name="Google Shape;120;p4"/>
          <p:cNvSpPr txBox="1">
            <a:spLocks noGrp="1"/>
          </p:cNvSpPr>
          <p:nvPr>
            <p:ph type="body" idx="1"/>
          </p:nvPr>
        </p:nvSpPr>
        <p:spPr>
          <a:xfrm>
            <a:off x="214047" y="1809547"/>
            <a:ext cx="7989900" cy="2723100"/>
          </a:xfrm>
          <a:prstGeom prst="rect">
            <a:avLst/>
          </a:prstGeom>
          <a:noFill/>
          <a:ln>
            <a:noFill/>
          </a:ln>
        </p:spPr>
        <p:txBody>
          <a:bodyPr spcFirstLastPara="1" wrap="square" lIns="91425" tIns="45700" rIns="91425" bIns="45700" anchor="ctr" anchorCtr="0">
            <a:noAutofit/>
          </a:bodyPr>
          <a:lstStyle/>
          <a:p>
            <a:r>
              <a:rPr lang="en-US" sz="1400" b="1" dirty="0"/>
              <a:t>Context / Need for the Project:</a:t>
            </a:r>
            <a:br>
              <a:rPr lang="en-US" sz="1400" dirty="0"/>
            </a:br>
            <a:r>
              <a:rPr lang="en-US" sz="1400" dirty="0"/>
              <a:t>In many urban and rural areas, large amounts of edible food go to waste every day due to inefficient redistribution and lack of awareness. At the same time, thousands of people struggle with hunger and food insecurity. There is a growing need for a digital system that connects food donors, such as restaurants, event organizers, and individuals, with receivers like NGOs and shelters in real time. By leveraging technology, this project aims to reduce food wastage, promote social responsibility, and contribute to sustainable community development.</a:t>
            </a:r>
          </a:p>
          <a:p>
            <a:r>
              <a:rPr lang="en-US" sz="1400" b="1" dirty="0"/>
              <a:t>Scope of the Project:</a:t>
            </a:r>
            <a:br>
              <a:rPr lang="en-US" sz="1400" dirty="0"/>
            </a:br>
            <a:r>
              <a:rPr lang="en-US" sz="1400" dirty="0"/>
              <a:t>The </a:t>
            </a:r>
            <a:r>
              <a:rPr lang="en-US" sz="1400" i="1" dirty="0"/>
              <a:t>Food Donation and Redistribution Platform</a:t>
            </a:r>
            <a:r>
              <a:rPr lang="en-US" sz="1400" dirty="0"/>
              <a:t> provides a centralized web-based solution that enables donors to list surplus food and receivers to request or discover available food donations. It integrates Google Maps for accurate pickup locations and employs a smart matching system based on proximity, food type, and urgency. The project’s scope includes donor and receiver registration, food listing, automated matching, and basic analytics for monitoring donation activity. The platform can be expanded in the future to include mobile app support, AI-based demand forecasting, and partnerships with government or corporate welfare programs.</a:t>
            </a:r>
          </a:p>
          <a:p>
            <a:pPr marL="306000" lvl="0" indent="-306000" algn="l" rtl="0">
              <a:spcBef>
                <a:spcPts val="0"/>
              </a:spcBef>
              <a:spcAft>
                <a:spcPts val="0"/>
              </a:spcAft>
              <a:buSzPts val="1656"/>
              <a:buChar char="⬛"/>
            </a:pP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sz="2800" b="0" cap="none" dirty="0">
                <a:solidFill>
                  <a:schemeClr val="lt1"/>
                </a:solidFill>
                <a:latin typeface="Gill Sans"/>
                <a:ea typeface="Gill Sans"/>
                <a:cs typeface="Gill Sans"/>
                <a:sym typeface="Gill Sans"/>
              </a:rPr>
              <a:t>LITERATURE REVIEW</a:t>
            </a:r>
            <a:endParaRPr dirty="0"/>
          </a:p>
        </p:txBody>
      </p:sp>
      <p:sp>
        <p:nvSpPr>
          <p:cNvPr id="126" name="Google Shape;126;p5"/>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lnSpcReduction="10000"/>
          </a:bodyPr>
          <a:lstStyle/>
          <a:p>
            <a:r>
              <a:rPr lang="en-US" b="1" dirty="0"/>
              <a:t>Existing Systems / Studies:</a:t>
            </a:r>
            <a:br>
              <a:rPr lang="en-US" dirty="0"/>
            </a:br>
            <a:r>
              <a:rPr lang="en-US" dirty="0"/>
              <a:t>Platforms like </a:t>
            </a:r>
            <a:r>
              <a:rPr lang="en-US" i="1" dirty="0"/>
              <a:t>Feeding India</a:t>
            </a:r>
            <a:r>
              <a:rPr lang="en-US" dirty="0"/>
              <a:t> and </a:t>
            </a:r>
            <a:r>
              <a:rPr lang="en-US" i="1" dirty="0"/>
              <a:t>No Food Waste</a:t>
            </a:r>
            <a:r>
              <a:rPr lang="en-US" dirty="0"/>
              <a:t> connect donors with NGOs through apps and volunteer networks.</a:t>
            </a:r>
          </a:p>
          <a:p>
            <a:r>
              <a:rPr lang="en-US" b="1" dirty="0"/>
              <a:t>Limitations of Existing Systems:</a:t>
            </a:r>
            <a:br>
              <a:rPr lang="en-US" dirty="0"/>
            </a:br>
            <a:r>
              <a:rPr lang="en-US" dirty="0"/>
              <a:t>Most rely on manual coordination, lack real-time tracking, and have limited automation or smart matching features.</a:t>
            </a:r>
          </a:p>
          <a:p>
            <a:r>
              <a:rPr lang="en-US" b="1" dirty="0"/>
              <a:t>How Our Project Improves / Differs:</a:t>
            </a:r>
            <a:br>
              <a:rPr lang="en-US" dirty="0"/>
            </a:br>
            <a:r>
              <a:rPr lang="en-US" dirty="0"/>
              <a:t>Our platform integrates Google Maps and a smart matching algorithm for automated donor-receiver pairing, improving efficiency, transparency, and scalability.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a:t>Comparative Table</a:t>
            </a:r>
            <a:endParaRPr/>
          </a:p>
        </p:txBody>
      </p:sp>
      <p:graphicFrame>
        <p:nvGraphicFramePr>
          <p:cNvPr id="132" name="Google Shape;132;p6"/>
          <p:cNvGraphicFramePr/>
          <p:nvPr>
            <p:extLst>
              <p:ext uri="{D42A27DB-BD31-4B8C-83A1-F6EECF244321}">
                <p14:modId xmlns:p14="http://schemas.microsoft.com/office/powerpoint/2010/main" val="1448769512"/>
              </p:ext>
            </p:extLst>
          </p:nvPr>
        </p:nvGraphicFramePr>
        <p:xfrm>
          <a:off x="679488" y="2051503"/>
          <a:ext cx="7785000" cy="2587175"/>
        </p:xfrm>
        <a:graphic>
          <a:graphicData uri="http://schemas.openxmlformats.org/drawingml/2006/table">
            <a:tbl>
              <a:tblPr>
                <a:noFill/>
                <a:tableStyleId>{F1028E71-70FC-4EC1-B44D-9C10CE01F098}</a:tableStyleId>
              </a:tblPr>
              <a:tblGrid>
                <a:gridCol w="1659100">
                  <a:extLst>
                    <a:ext uri="{9D8B030D-6E8A-4147-A177-3AD203B41FA5}">
                      <a16:colId xmlns:a16="http://schemas.microsoft.com/office/drawing/2014/main" val="20000"/>
                    </a:ext>
                  </a:extLst>
                </a:gridCol>
                <a:gridCol w="1659100">
                  <a:extLst>
                    <a:ext uri="{9D8B030D-6E8A-4147-A177-3AD203B41FA5}">
                      <a16:colId xmlns:a16="http://schemas.microsoft.com/office/drawing/2014/main" val="20001"/>
                    </a:ext>
                  </a:extLst>
                </a:gridCol>
                <a:gridCol w="1483625">
                  <a:extLst>
                    <a:ext uri="{9D8B030D-6E8A-4147-A177-3AD203B41FA5}">
                      <a16:colId xmlns:a16="http://schemas.microsoft.com/office/drawing/2014/main" val="20002"/>
                    </a:ext>
                  </a:extLst>
                </a:gridCol>
                <a:gridCol w="2983175">
                  <a:extLst>
                    <a:ext uri="{9D8B030D-6E8A-4147-A177-3AD203B41FA5}">
                      <a16:colId xmlns:a16="http://schemas.microsoft.com/office/drawing/2014/main" val="20003"/>
                    </a:ext>
                  </a:extLst>
                </a:gridCol>
              </a:tblGrid>
              <a:tr h="521475">
                <a:tc>
                  <a:txBody>
                    <a:bodyPr/>
                    <a:lstStyle/>
                    <a:p>
                      <a:pPr marL="0" lvl="0" indent="0" algn="ctr" rtl="0">
                        <a:lnSpc>
                          <a:spcPct val="115000"/>
                        </a:lnSpc>
                        <a:spcBef>
                          <a:spcPts val="0"/>
                        </a:spcBef>
                        <a:spcAft>
                          <a:spcPts val="0"/>
                        </a:spcAft>
                        <a:buNone/>
                      </a:pPr>
                      <a:r>
                        <a:rPr lang="en-US" sz="1200" b="1" dirty="0">
                          <a:latin typeface="Gill Sans" panose="020B0604020202020204" charset="0"/>
                        </a:rPr>
                        <a:t>Paper / System</a:t>
                      </a:r>
                      <a:endParaRPr sz="1200" b="1"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1" dirty="0">
                          <a:latin typeface="Gill Sans" panose="020B0604020202020204" charset="0"/>
                        </a:rPr>
                        <a:t>Year</a:t>
                      </a:r>
                      <a:endParaRPr sz="1200" b="1"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1" dirty="0">
                          <a:latin typeface="Gill Sans" panose="020B0604020202020204" charset="0"/>
                        </a:rPr>
                        <a:t>Method Used</a:t>
                      </a:r>
                      <a:endParaRPr sz="1200" b="1"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1" dirty="0">
                          <a:latin typeface="Gill Sans" panose="020B0604020202020204" charset="0"/>
                        </a:rPr>
                        <a:t>Limitation / Gap Identified</a:t>
                      </a:r>
                      <a:endParaRPr sz="1200" b="1"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79125">
                <a:tc>
                  <a:txBody>
                    <a:bodyPr/>
                    <a:lstStyle/>
                    <a:p>
                      <a:pPr marL="0" lvl="0" indent="0" algn="l" rtl="0">
                        <a:spcBef>
                          <a:spcPts val="0"/>
                        </a:spcBef>
                        <a:spcAft>
                          <a:spcPts val="0"/>
                        </a:spcAft>
                        <a:buNone/>
                      </a:pPr>
                      <a:r>
                        <a:rPr lang="en-US" sz="1000" b="0" dirty="0">
                          <a:latin typeface="Gill Sans" panose="020B0604020202020204" charset="0"/>
                        </a:rPr>
                        <a:t>Paper 1 – “Smart Food Donation Tracking System”</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2021</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IoT-based sensors for food freshness monitoring</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buNone/>
                      </a:pPr>
                      <a:r>
                        <a:rPr lang="en-US" sz="1000" b="0" dirty="0">
                          <a:latin typeface="Gill Sans" panose="020B0604020202020204" charset="0"/>
                        </a:rPr>
                        <a:t>High cost of hardware and maintenance</a:t>
                      </a:r>
                    </a:p>
                  </a:txBody>
                  <a:tcPr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52825">
                <a:tc>
                  <a:txBody>
                    <a:bodyPr/>
                    <a:lstStyle/>
                    <a:p>
                      <a:pPr marL="0" lvl="0" indent="0" algn="l" rtl="0">
                        <a:spcBef>
                          <a:spcPts val="0"/>
                        </a:spcBef>
                        <a:spcAft>
                          <a:spcPts val="0"/>
                        </a:spcAft>
                        <a:buNone/>
                      </a:pPr>
                      <a:r>
                        <a:rPr lang="en-US" sz="1000" b="0" dirty="0">
                          <a:latin typeface="Gill Sans" panose="020B0604020202020204" charset="0"/>
                        </a:rPr>
                        <a:t>Paper 2– “AI-Powered Food Redistribution Model”</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2022</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Machine learning model for demand prediction</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Requires large dataset and technical expertise</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52825">
                <a:tc>
                  <a:txBody>
                    <a:bodyPr/>
                    <a:lstStyle/>
                    <a:p>
                      <a:pPr marL="0" lvl="0" indent="0" algn="l" rtl="0">
                        <a:spcBef>
                          <a:spcPts val="0"/>
                        </a:spcBef>
                        <a:spcAft>
                          <a:spcPts val="0"/>
                        </a:spcAft>
                        <a:buNone/>
                      </a:pPr>
                      <a:r>
                        <a:rPr lang="en-US" sz="1000" b="0" dirty="0">
                          <a:latin typeface="Gill Sans" panose="020B0604020202020204" charset="0"/>
                        </a:rPr>
                        <a:t>Proposed System – “Food Donation &amp; Redistribution Platform”</a:t>
                      </a:r>
                      <a:endParaRPr sz="1000" b="0"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2025</a:t>
                      </a:r>
                      <a:endParaRPr sz="1000" b="0" dirty="0">
                        <a:latin typeface="Gill Sans" panose="020B0604020202020204" charset="0"/>
                      </a:endParaRPr>
                    </a:p>
                  </a:txBody>
                  <a:tcPr marL="91425" marR="91425" marT="51425" marB="5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Web-based system with Google Maps integration and smart donor–receiver matching</a:t>
                      </a:r>
                      <a:endParaRPr sz="1000" b="0" dirty="0">
                        <a:latin typeface="Gill Sans" panose="020B0604020202020204" charset="0"/>
                      </a:endParaRPr>
                    </a:p>
                  </a:txBody>
                  <a:tcPr marL="91425" marR="91425" marT="51425" marB="5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0" dirty="0">
                          <a:latin typeface="Gill Sans" panose="020B0604020202020204" charset="0"/>
                        </a:rPr>
                        <a:t>Bridges gap of real-time coordination and optimizes food distribution ethically</a:t>
                      </a:r>
                      <a:endParaRPr sz="1000" b="0" dirty="0">
                        <a:latin typeface="Gill Sans" panose="020B0604020202020204" charset="0"/>
                      </a:endParaRPr>
                    </a:p>
                  </a:txBody>
                  <a:tcPr marL="91425" marR="91425" marT="51425" marB="51425">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970281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sz="2800" b="0" cap="none" dirty="0">
                <a:solidFill>
                  <a:schemeClr val="lt1"/>
                </a:solidFill>
                <a:latin typeface="Gill Sans"/>
                <a:ea typeface="Gill Sans"/>
                <a:cs typeface="Gill Sans"/>
                <a:sym typeface="Gill Sans"/>
              </a:rPr>
              <a:t>WORKING OF PROJECT</a:t>
            </a:r>
            <a:endParaRPr dirty="0"/>
          </a:p>
        </p:txBody>
      </p:sp>
      <p:sp>
        <p:nvSpPr>
          <p:cNvPr id="138" name="Google Shape;138;p8"/>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1656"/>
              <a:buChar char="⬛"/>
            </a:pPr>
            <a:r>
              <a:rPr lang="en-US" sz="2000" b="1" dirty="0"/>
              <a:t>Theory</a:t>
            </a:r>
            <a:r>
              <a:rPr lang="en-US" dirty="0"/>
              <a:t>:-</a:t>
            </a:r>
          </a:p>
          <a:p>
            <a:pPr marL="0" lvl="0" indent="0">
              <a:spcBef>
                <a:spcPts val="0"/>
              </a:spcBef>
              <a:buNone/>
            </a:pPr>
            <a:r>
              <a:rPr lang="en-US" dirty="0"/>
              <a:t>The project is based on the principle of </a:t>
            </a:r>
            <a:r>
              <a:rPr lang="en-US" b="1" dirty="0"/>
              <a:t>resource optimization</a:t>
            </a:r>
            <a:r>
              <a:rPr lang="en-US" dirty="0"/>
              <a:t> and </a:t>
            </a:r>
            <a:r>
              <a:rPr lang="en-US" b="1" dirty="0"/>
              <a:t>sustainable food management</a:t>
            </a:r>
            <a:r>
              <a:rPr lang="en-US" dirty="0"/>
              <a:t>, using technology to minimize food wastage. It applies concepts of web-based systems, data matching algorithms, and geolocation services to connect surplus food sources with people in need efficiently.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CC5A-205C-91F0-2221-89836CB9D321}"/>
              </a:ext>
            </a:extLst>
          </p:cNvPr>
          <p:cNvSpPr>
            <a:spLocks noGrp="1"/>
          </p:cNvSpPr>
          <p:nvPr>
            <p:ph type="title"/>
          </p:nvPr>
        </p:nvSpPr>
        <p:spPr/>
        <p:txBody>
          <a:bodyPr/>
          <a:lstStyle/>
          <a:p>
            <a:r>
              <a:rPr lang="en-US" dirty="0"/>
              <a:t>WORKING OF PROJECT</a:t>
            </a:r>
          </a:p>
        </p:txBody>
      </p:sp>
      <p:sp>
        <p:nvSpPr>
          <p:cNvPr id="3" name="Text Placeholder 2">
            <a:extLst>
              <a:ext uri="{FF2B5EF4-FFF2-40B4-BE49-F238E27FC236}">
                <a16:creationId xmlns:a16="http://schemas.microsoft.com/office/drawing/2014/main" id="{36457929-9C34-45D9-5DCC-AC6B7DE82CDE}"/>
              </a:ext>
            </a:extLst>
          </p:cNvPr>
          <p:cNvSpPr>
            <a:spLocks noGrp="1"/>
          </p:cNvSpPr>
          <p:nvPr>
            <p:ph type="body" idx="1"/>
          </p:nvPr>
        </p:nvSpPr>
        <p:spPr>
          <a:xfrm>
            <a:off x="421865" y="1607127"/>
            <a:ext cx="7989900" cy="3020767"/>
          </a:xfrm>
        </p:spPr>
        <p:txBody>
          <a:bodyPr>
            <a:normAutofit fontScale="92500" lnSpcReduction="20000"/>
          </a:bodyPr>
          <a:lstStyle/>
          <a:p>
            <a:r>
              <a:rPr lang="en-US" sz="2200" b="1" dirty="0">
                <a:latin typeface="Gill Sans" panose="020B0604020202020204" charset="0"/>
              </a:rPr>
              <a:t>Methodology</a:t>
            </a:r>
            <a:r>
              <a:rPr lang="en-US" b="1" dirty="0">
                <a:latin typeface="Gill Sans" panose="020B0604020202020204" charset="0"/>
              </a:rPr>
              <a:t>:-</a:t>
            </a:r>
          </a:p>
          <a:p>
            <a:pPr marL="0" lvl="0" indent="0" algn="just" eaLnBrk="0" fontAlgn="base" hangingPunct="0">
              <a:spcBef>
                <a:spcPct val="0"/>
              </a:spcBef>
              <a:spcAft>
                <a:spcPct val="0"/>
              </a:spcAft>
              <a:buClrTx/>
              <a:buSzTx/>
              <a:buFontTx/>
              <a:buChar char="•"/>
            </a:pPr>
            <a:r>
              <a:rPr lang="en-US" altLang="en-US" b="1" dirty="0">
                <a:solidFill>
                  <a:schemeClr val="tx1"/>
                </a:solidFill>
                <a:latin typeface="Gill Sans" panose="020B0604020202020204" charset="0"/>
              </a:rPr>
              <a:t>Data Collection:</a:t>
            </a:r>
            <a:r>
              <a:rPr lang="en-US" altLang="en-US" dirty="0">
                <a:solidFill>
                  <a:schemeClr val="tx1"/>
                </a:solidFill>
                <a:latin typeface="Gill Sans" panose="020B0604020202020204" charset="0"/>
              </a:rPr>
              <a:t> Donors input details such as food type, quantity, expiry time, and pickup location using an online form.</a:t>
            </a:r>
          </a:p>
          <a:p>
            <a:pPr marL="0" lvl="0" indent="0" algn="just" eaLnBrk="0" fontAlgn="base" hangingPunct="0">
              <a:spcBef>
                <a:spcPct val="0"/>
              </a:spcBef>
              <a:spcAft>
                <a:spcPct val="0"/>
              </a:spcAft>
              <a:buClrTx/>
              <a:buSzTx/>
              <a:buFontTx/>
              <a:buChar char="•"/>
            </a:pPr>
            <a:r>
              <a:rPr lang="en-US" altLang="en-US" b="1" dirty="0">
                <a:solidFill>
                  <a:schemeClr val="tx1"/>
                </a:solidFill>
                <a:latin typeface="Gill Sans" panose="020B0604020202020204" charset="0"/>
              </a:rPr>
              <a:t>Receiver Registration:</a:t>
            </a:r>
            <a:r>
              <a:rPr lang="en-US" altLang="en-US" dirty="0">
                <a:solidFill>
                  <a:schemeClr val="tx1"/>
                </a:solidFill>
                <a:latin typeface="Gill Sans" panose="020B0604020202020204" charset="0"/>
              </a:rPr>
              <a:t> NGOs or individuals register their requirements and preferences.</a:t>
            </a:r>
          </a:p>
          <a:p>
            <a:pPr marL="0" lvl="0" indent="0" algn="just" eaLnBrk="0" fontAlgn="base" hangingPunct="0">
              <a:spcBef>
                <a:spcPct val="0"/>
              </a:spcBef>
              <a:spcAft>
                <a:spcPct val="0"/>
              </a:spcAft>
              <a:buClrTx/>
              <a:buSzTx/>
              <a:buFontTx/>
              <a:buChar char="•"/>
            </a:pPr>
            <a:r>
              <a:rPr lang="en-US" b="1" dirty="0"/>
              <a:t>Listing Visibility &amp; Approval:</a:t>
            </a:r>
            <a:r>
              <a:rPr lang="en-US" dirty="0"/>
              <a:t> Receivers can view available donation listings. Each listing must be </a:t>
            </a:r>
            <a:r>
              <a:rPr lang="en-US" b="1" dirty="0"/>
              <a:t>approved by the donor</a:t>
            </a:r>
            <a:r>
              <a:rPr lang="en-US" dirty="0"/>
              <a:t> before pickup is scheduled. If the donor does not approve a request, it appears under the </a:t>
            </a:r>
            <a:r>
              <a:rPr lang="en-US" b="1" dirty="0"/>
              <a:t>Pending Listings</a:t>
            </a:r>
            <a:r>
              <a:rPr lang="en-US" dirty="0"/>
              <a:t> tab.</a:t>
            </a:r>
            <a:endParaRPr lang="en-US" dirty="0">
              <a:solidFill>
                <a:schemeClr val="tx1"/>
              </a:solidFill>
              <a:latin typeface="Gill Sans" panose="020B0604020202020204" charset="0"/>
            </a:endParaRPr>
          </a:p>
          <a:p>
            <a:pPr marL="0" lvl="0" indent="0" algn="just" eaLnBrk="0" fontAlgn="base" hangingPunct="0">
              <a:spcBef>
                <a:spcPct val="0"/>
              </a:spcBef>
              <a:spcAft>
                <a:spcPct val="0"/>
              </a:spcAft>
              <a:buClrTx/>
              <a:buSzTx/>
              <a:buFontTx/>
              <a:buChar char="•"/>
            </a:pPr>
            <a:r>
              <a:rPr lang="en-US" b="1" dirty="0"/>
              <a:t>Pickup Scheduling &amp; Confirmation:</a:t>
            </a:r>
            <a:r>
              <a:rPr lang="en-US" dirty="0"/>
              <a:t> Once the donor approves, the receiver requests a pickup slot; the donor and receiver coordinate and confirm the pickup time and location.</a:t>
            </a:r>
          </a:p>
          <a:p>
            <a:pPr marL="0" indent="0" algn="just" eaLnBrk="0" fontAlgn="base" hangingPunct="0">
              <a:spcBef>
                <a:spcPct val="0"/>
              </a:spcBef>
              <a:spcAft>
                <a:spcPct val="0"/>
              </a:spcAft>
              <a:buClrTx/>
              <a:buSzTx/>
              <a:buFontTx/>
              <a:buChar char="•"/>
            </a:pPr>
            <a:r>
              <a:rPr lang="en-US" b="1" dirty="0"/>
              <a:t>Tracking:</a:t>
            </a:r>
            <a:r>
              <a:rPr lang="en-US" dirty="0"/>
              <a:t> Completed donations are recorded in the system for monitoring and future reference.</a:t>
            </a:r>
          </a:p>
          <a:p>
            <a:pPr marL="0" lvl="0" indent="0" algn="just" eaLnBrk="0" fontAlgn="base" hangingPunct="0">
              <a:spcBef>
                <a:spcPct val="0"/>
              </a:spcBef>
              <a:spcAft>
                <a:spcPct val="0"/>
              </a:spcAft>
              <a:buClrTx/>
              <a:buSzTx/>
              <a:buNone/>
            </a:pPr>
            <a:endParaRPr lang="en-US" altLang="en-US" dirty="0">
              <a:solidFill>
                <a:schemeClr val="tx1"/>
              </a:solidFill>
              <a:latin typeface="Gill Sans" panose="020B0604020202020204" charset="0"/>
            </a:endParaRPr>
          </a:p>
          <a:p>
            <a:pPr marL="123444" indent="0">
              <a:buNone/>
            </a:pPr>
            <a:endParaRPr lang="en-US" dirty="0"/>
          </a:p>
          <a:p>
            <a:endParaRPr lang="en-US" dirty="0"/>
          </a:p>
        </p:txBody>
      </p:sp>
    </p:spTree>
    <p:extLst>
      <p:ext uri="{BB962C8B-B14F-4D97-AF65-F5344CB8AC3E}">
        <p14:creationId xmlns:p14="http://schemas.microsoft.com/office/powerpoint/2010/main" val="3099872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8E48B-F20F-BBFC-9BCD-502FE11DA8D3}"/>
              </a:ext>
            </a:extLst>
          </p:cNvPr>
          <p:cNvSpPr>
            <a:spLocks noGrp="1"/>
          </p:cNvSpPr>
          <p:nvPr>
            <p:ph type="title"/>
          </p:nvPr>
        </p:nvSpPr>
        <p:spPr/>
        <p:txBody>
          <a:bodyPr/>
          <a:lstStyle/>
          <a:p>
            <a:r>
              <a:rPr lang="en-US" dirty="0"/>
              <a:t>WORKING OF PROJECT</a:t>
            </a:r>
          </a:p>
        </p:txBody>
      </p:sp>
      <p:sp>
        <p:nvSpPr>
          <p:cNvPr id="3" name="Text Placeholder 2">
            <a:extLst>
              <a:ext uri="{FF2B5EF4-FFF2-40B4-BE49-F238E27FC236}">
                <a16:creationId xmlns:a16="http://schemas.microsoft.com/office/drawing/2014/main" id="{4E971D86-3476-B5C3-B606-0B41F25332FE}"/>
              </a:ext>
            </a:extLst>
          </p:cNvPr>
          <p:cNvSpPr>
            <a:spLocks noGrp="1"/>
          </p:cNvSpPr>
          <p:nvPr>
            <p:ph type="body" idx="1"/>
          </p:nvPr>
        </p:nvSpPr>
        <p:spPr/>
        <p:txBody>
          <a:bodyPr/>
          <a:lstStyle/>
          <a:p>
            <a:r>
              <a:rPr lang="en-US" sz="2000" b="1" dirty="0">
                <a:latin typeface="Gill Sans" panose="020B0604020202020204" charset="0"/>
              </a:rPr>
              <a:t>Algorithm(Smart Matching Algorithm):-</a:t>
            </a:r>
          </a:p>
          <a:p>
            <a:pPr marL="0" lvl="0" indent="0" eaLnBrk="0" fontAlgn="base" hangingPunct="0">
              <a:spcBef>
                <a:spcPct val="0"/>
              </a:spcBef>
              <a:spcAft>
                <a:spcPct val="0"/>
              </a:spcAft>
              <a:buClrTx/>
              <a:buSzTx/>
              <a:buFontTx/>
              <a:buChar char="•"/>
            </a:pPr>
            <a:r>
              <a:rPr lang="en-US" altLang="en-US" dirty="0">
                <a:solidFill>
                  <a:schemeClr val="tx1"/>
                </a:solidFill>
                <a:latin typeface="Gill Sans" panose="020B0604020202020204" charset="0"/>
              </a:rPr>
              <a:t>Input donor data (location, food type, quantity, availability time).</a:t>
            </a:r>
          </a:p>
          <a:p>
            <a:pPr marL="0" lvl="0" indent="0" eaLnBrk="0" fontAlgn="base" hangingPunct="0">
              <a:spcBef>
                <a:spcPct val="0"/>
              </a:spcBef>
              <a:spcAft>
                <a:spcPct val="0"/>
              </a:spcAft>
              <a:buClrTx/>
              <a:buSzTx/>
              <a:buFontTx/>
              <a:buChar char="•"/>
            </a:pPr>
            <a:r>
              <a:rPr lang="en-US" altLang="en-US" dirty="0">
                <a:solidFill>
                  <a:schemeClr val="tx1"/>
                </a:solidFill>
                <a:latin typeface="Gill Sans" panose="020B0604020202020204" charset="0"/>
              </a:rPr>
              <a:t>Input receiver data (location, preferred food type, capacity).</a:t>
            </a:r>
          </a:p>
          <a:p>
            <a:pPr marL="0" lvl="0" indent="0" eaLnBrk="0" fontAlgn="base" hangingPunct="0">
              <a:spcBef>
                <a:spcPct val="0"/>
              </a:spcBef>
              <a:spcAft>
                <a:spcPct val="0"/>
              </a:spcAft>
              <a:buClrTx/>
              <a:buSzTx/>
              <a:buFontTx/>
              <a:buChar char="•"/>
            </a:pPr>
            <a:r>
              <a:rPr lang="en-US" altLang="en-US" dirty="0">
                <a:solidFill>
                  <a:schemeClr val="tx1"/>
                </a:solidFill>
                <a:latin typeface="Gill Sans" panose="020B0604020202020204" charset="0"/>
              </a:rPr>
              <a:t>Calculate </a:t>
            </a:r>
            <a:r>
              <a:rPr lang="en-US" altLang="en-US" b="1" dirty="0">
                <a:solidFill>
                  <a:schemeClr val="tx1"/>
                </a:solidFill>
                <a:latin typeface="Gill Sans" panose="020B0604020202020204" charset="0"/>
              </a:rPr>
              <a:t>distance</a:t>
            </a:r>
            <a:r>
              <a:rPr lang="en-US" altLang="en-US" dirty="0">
                <a:solidFill>
                  <a:schemeClr val="tx1"/>
                </a:solidFill>
                <a:latin typeface="Gill Sans" panose="020B0604020202020204" charset="0"/>
              </a:rPr>
              <a:t> using API between donor and receiver.</a:t>
            </a:r>
          </a:p>
          <a:p>
            <a:pPr marL="0" lvl="0" indent="0" eaLnBrk="0" fontAlgn="base" hangingPunct="0">
              <a:spcBef>
                <a:spcPct val="0"/>
              </a:spcBef>
              <a:spcAft>
                <a:spcPct val="0"/>
              </a:spcAft>
              <a:buClrTx/>
              <a:buSzTx/>
              <a:buFontTx/>
              <a:buChar char="•"/>
            </a:pPr>
            <a:r>
              <a:rPr lang="en-US" altLang="en-US" dirty="0">
                <a:solidFill>
                  <a:schemeClr val="tx1"/>
                </a:solidFill>
                <a:latin typeface="Gill Sans" panose="020B0604020202020204" charset="0"/>
              </a:rPr>
              <a:t>It uses Haversine Formula to calculate shortest distance .</a:t>
            </a:r>
          </a:p>
          <a:p>
            <a:pPr marL="0" lvl="0" indent="0" eaLnBrk="0" fontAlgn="base" hangingPunct="0">
              <a:spcBef>
                <a:spcPct val="0"/>
              </a:spcBef>
              <a:spcAft>
                <a:spcPct val="0"/>
              </a:spcAft>
              <a:buClrTx/>
              <a:buSzTx/>
              <a:buFontTx/>
              <a:buChar char="•"/>
            </a:pPr>
            <a:r>
              <a:rPr lang="en-US" altLang="en-US" dirty="0">
                <a:solidFill>
                  <a:schemeClr val="tx1"/>
                </a:solidFill>
                <a:latin typeface="Gill Sans" panose="020B0604020202020204" charset="0"/>
              </a:rPr>
              <a:t>Sort receivers by highest score for each donor.</a:t>
            </a:r>
          </a:p>
          <a:p>
            <a:pPr marL="0" lvl="0" indent="0" eaLnBrk="0" fontAlgn="base" hangingPunct="0">
              <a:spcBef>
                <a:spcPct val="0"/>
              </a:spcBef>
              <a:spcAft>
                <a:spcPct val="0"/>
              </a:spcAft>
              <a:buClrTx/>
              <a:buSzTx/>
              <a:buFontTx/>
              <a:buChar char="•"/>
            </a:pPr>
            <a:r>
              <a:rPr lang="en-US" altLang="en-US" dirty="0">
                <a:solidFill>
                  <a:schemeClr val="tx1"/>
                </a:solidFill>
                <a:latin typeface="Gill Sans" panose="020B0604020202020204" charset="0"/>
              </a:rPr>
              <a:t>Suggest top matches and notify both parties.</a:t>
            </a:r>
          </a:p>
          <a:p>
            <a:pPr marL="123444" indent="0">
              <a:buNone/>
            </a:pPr>
            <a:endParaRPr lang="en-US" dirty="0"/>
          </a:p>
        </p:txBody>
      </p:sp>
    </p:spTree>
    <p:extLst>
      <p:ext uri="{BB962C8B-B14F-4D97-AF65-F5344CB8AC3E}">
        <p14:creationId xmlns:p14="http://schemas.microsoft.com/office/powerpoint/2010/main" val="421501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sz="2800" b="0" cap="none" dirty="0">
                <a:solidFill>
                  <a:schemeClr val="lt1"/>
                </a:solidFill>
                <a:latin typeface="Gill Sans"/>
                <a:ea typeface="Gill Sans"/>
                <a:cs typeface="Gill Sans"/>
                <a:sym typeface="Gill Sans"/>
              </a:rPr>
              <a:t>HARDWARE &amp; SOFTWARE DETAILS</a:t>
            </a:r>
            <a:endParaRPr dirty="0"/>
          </a:p>
        </p:txBody>
      </p:sp>
      <p:sp>
        <p:nvSpPr>
          <p:cNvPr id="144" name="Google Shape;144;p9"/>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1656"/>
              <a:buChar char="⬛"/>
            </a:pPr>
            <a:r>
              <a:rPr lang="en-US" sz="2000" b="1" dirty="0">
                <a:solidFill>
                  <a:schemeClr val="dk2"/>
                </a:solidFill>
                <a:latin typeface="Gill Sans"/>
                <a:ea typeface="Gill Sans"/>
                <a:cs typeface="Gill Sans"/>
                <a:sym typeface="Gill Sans"/>
              </a:rPr>
              <a:t>Hardware Requirements:-</a:t>
            </a:r>
          </a:p>
          <a:p>
            <a:pPr>
              <a:buFont typeface="Arial" panose="020B0604020202020204" pitchFamily="34" charset="0"/>
              <a:buChar char="•"/>
            </a:pPr>
            <a:r>
              <a:rPr lang="en-US" dirty="0"/>
              <a:t>Computer or laptop with at least </a:t>
            </a:r>
            <a:r>
              <a:rPr lang="en-US" b="1" dirty="0"/>
              <a:t>4 GB RAM</a:t>
            </a:r>
            <a:r>
              <a:rPr lang="en-US" dirty="0"/>
              <a:t> and </a:t>
            </a:r>
            <a:r>
              <a:rPr lang="en-US" b="1" dirty="0"/>
              <a:t>dual-core processor</a:t>
            </a:r>
            <a:endParaRPr lang="en-US" dirty="0"/>
          </a:p>
          <a:p>
            <a:pPr>
              <a:buFont typeface="Arial" panose="020B0604020202020204" pitchFamily="34" charset="0"/>
              <a:buChar char="•"/>
            </a:pPr>
            <a:r>
              <a:rPr lang="en-US" b="1" dirty="0"/>
              <a:t>Internet connection</a:t>
            </a:r>
            <a:r>
              <a:rPr lang="en-US" dirty="0"/>
              <a:t> for online access and API integration</a:t>
            </a:r>
          </a:p>
          <a:p>
            <a:pPr>
              <a:buFont typeface="Arial" panose="020B0604020202020204" pitchFamily="34" charset="0"/>
              <a:buChar char="•"/>
            </a:pPr>
            <a:r>
              <a:rPr lang="en-US" b="1" dirty="0"/>
              <a:t>Server or cloud hosting environment</a:t>
            </a:r>
            <a:r>
              <a:rPr lang="en-US" dirty="0"/>
              <a:t> (e.g., AWS, Heroku, or local server)</a:t>
            </a:r>
          </a:p>
          <a:p>
            <a:pPr>
              <a:buFont typeface="Arial" panose="020B0604020202020204" pitchFamily="34" charset="0"/>
              <a:buChar char="•"/>
            </a:pPr>
            <a:r>
              <a:rPr lang="en-US" b="1" dirty="0"/>
              <a:t>Mobile devices</a:t>
            </a:r>
            <a:r>
              <a:rPr lang="en-US" dirty="0"/>
              <a:t> (optional, for testing and receiver access)</a:t>
            </a:r>
          </a:p>
          <a:p>
            <a:pPr marL="306000" lvl="0" indent="-306000" algn="l" rtl="0">
              <a:spcBef>
                <a:spcPts val="0"/>
              </a:spcBef>
              <a:spcAft>
                <a:spcPts val="0"/>
              </a:spcAft>
              <a:buSzPts val="1656"/>
              <a:buChar char="⬛"/>
            </a:pPr>
            <a:endParaRPr sz="20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26FA2-BB46-AAC1-AF1B-6429D72A343A}"/>
              </a:ext>
            </a:extLst>
          </p:cNvPr>
          <p:cNvSpPr>
            <a:spLocks noGrp="1"/>
          </p:cNvSpPr>
          <p:nvPr>
            <p:ph type="title"/>
          </p:nvPr>
        </p:nvSpPr>
        <p:spPr/>
        <p:txBody>
          <a:bodyPr/>
          <a:lstStyle/>
          <a:p>
            <a:r>
              <a:rPr lang="en-US" dirty="0"/>
              <a:t>HARDWARE &amp; SOFTWARE DETAILS</a:t>
            </a:r>
          </a:p>
        </p:txBody>
      </p:sp>
      <p:sp>
        <p:nvSpPr>
          <p:cNvPr id="3" name="Text Placeholder 2">
            <a:extLst>
              <a:ext uri="{FF2B5EF4-FFF2-40B4-BE49-F238E27FC236}">
                <a16:creationId xmlns:a16="http://schemas.microsoft.com/office/drawing/2014/main" id="{57B54736-AB34-DFC3-FFE9-B20D97A72EED}"/>
              </a:ext>
            </a:extLst>
          </p:cNvPr>
          <p:cNvSpPr>
            <a:spLocks noGrp="1"/>
          </p:cNvSpPr>
          <p:nvPr>
            <p:ph type="body" idx="1"/>
          </p:nvPr>
        </p:nvSpPr>
        <p:spPr>
          <a:xfrm>
            <a:off x="581192" y="1904794"/>
            <a:ext cx="7989900" cy="2723100"/>
          </a:xfrm>
        </p:spPr>
        <p:txBody>
          <a:bodyPr>
            <a:normAutofit/>
          </a:bodyPr>
          <a:lstStyle/>
          <a:p>
            <a:r>
              <a:rPr lang="en-US" sz="2000" b="1" dirty="0"/>
              <a:t>Software Requirements:-</a:t>
            </a:r>
          </a:p>
          <a:p>
            <a:pPr>
              <a:buFont typeface="Arial" panose="020B0604020202020204" pitchFamily="34" charset="0"/>
              <a:buChar char="•"/>
            </a:pPr>
            <a:r>
              <a:rPr lang="en-US" sz="2000" dirty="0"/>
              <a:t>Frontend:-HTML, CSS, JavaScript</a:t>
            </a:r>
          </a:p>
          <a:p>
            <a:pPr>
              <a:buFont typeface="Arial" panose="020B0604020202020204" pitchFamily="34" charset="0"/>
              <a:buChar char="•"/>
            </a:pPr>
            <a:r>
              <a:rPr lang="en-US" sz="2000" dirty="0"/>
              <a:t>Backend:-Python (Flask, </a:t>
            </a:r>
            <a:r>
              <a:rPr lang="en-US" sz="2000" dirty="0" err="1"/>
              <a:t>Flask_SQLAlchemy</a:t>
            </a:r>
            <a:r>
              <a:rPr lang="en-US" sz="2000" dirty="0"/>
              <a:t>, </a:t>
            </a:r>
            <a:r>
              <a:rPr lang="en-US" sz="2000" dirty="0" err="1"/>
              <a:t>Werkzeug</a:t>
            </a:r>
            <a:r>
              <a:rPr lang="en-US" sz="2000" dirty="0"/>
              <a:t>)</a:t>
            </a:r>
          </a:p>
          <a:p>
            <a:pPr lvl="1">
              <a:buFont typeface="Arial" panose="020B0604020202020204" pitchFamily="34" charset="0"/>
              <a:buChar char="•"/>
            </a:pPr>
            <a:r>
              <a:rPr lang="en-US" sz="1800" dirty="0"/>
              <a:t>Database:- SQL (SQLite3)</a:t>
            </a:r>
          </a:p>
          <a:p>
            <a:pPr lvl="1">
              <a:buFont typeface="Arial" panose="020B0604020202020204" pitchFamily="34" charset="0"/>
              <a:buChar char="•"/>
            </a:pPr>
            <a:r>
              <a:rPr lang="en-US" sz="1800" dirty="0"/>
              <a:t>Mapping:- Google Maps API for location-based services</a:t>
            </a:r>
          </a:p>
          <a:p>
            <a:pPr lvl="1">
              <a:buFont typeface="Arial" panose="020B0604020202020204" pitchFamily="34" charset="0"/>
              <a:buChar char="•"/>
            </a:pPr>
            <a:r>
              <a:rPr lang="en-US" sz="1800" dirty="0"/>
              <a:t>Smart Matching System:- Custom algorithm (Haversine Formula)</a:t>
            </a:r>
          </a:p>
          <a:p>
            <a:pPr lvl="1">
              <a:buFont typeface="Arial" panose="020B0604020202020204" pitchFamily="34" charset="0"/>
              <a:buChar char="•"/>
            </a:pPr>
            <a:r>
              <a:rPr lang="en-US" sz="1800" dirty="0"/>
              <a:t>Deployment:- Cloud-based hosting services (AWS, Heroku, etc.)</a:t>
            </a:r>
          </a:p>
          <a:p>
            <a:pPr lvl="1">
              <a:buFont typeface="Arial" panose="020B0604020202020204" pitchFamily="34" charset="0"/>
              <a:buChar char="•"/>
            </a:pPr>
            <a:endParaRPr lang="en-US" sz="1800" dirty="0"/>
          </a:p>
          <a:p>
            <a:pPr lvl="1">
              <a:buFont typeface="Arial" panose="020B0604020202020204" pitchFamily="34" charset="0"/>
              <a:buChar char="•"/>
            </a:pPr>
            <a:endParaRPr lang="en-US" sz="1800" b="1" dirty="0"/>
          </a:p>
          <a:p>
            <a:endParaRPr lang="en-US" dirty="0"/>
          </a:p>
        </p:txBody>
      </p:sp>
    </p:spTree>
    <p:extLst>
      <p:ext uri="{BB962C8B-B14F-4D97-AF65-F5344CB8AC3E}">
        <p14:creationId xmlns:p14="http://schemas.microsoft.com/office/powerpoint/2010/main" val="1020518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dirty="0"/>
              <a:t>SCREENSHOTS</a:t>
            </a:r>
            <a:endParaRPr dirty="0"/>
          </a:p>
        </p:txBody>
      </p:sp>
      <p:sp>
        <p:nvSpPr>
          <p:cNvPr id="5" name="AutoShape 6">
            <a:extLst>
              <a:ext uri="{FF2B5EF4-FFF2-40B4-BE49-F238E27FC236}">
                <a16:creationId xmlns:a16="http://schemas.microsoft.com/office/drawing/2014/main" id="{532DEE51-5EC3-51C2-16A9-2574FA1A528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8C58EF97-D3B8-09F6-1793-2159CF4F3642}"/>
              </a:ext>
            </a:extLst>
          </p:cNvPr>
          <p:cNvPicPr>
            <a:picLocks noChangeAspect="1"/>
          </p:cNvPicPr>
          <p:nvPr/>
        </p:nvPicPr>
        <p:blipFill>
          <a:blip r:embed="rId3"/>
          <a:srcRect l="3278" t="7961" r="1583" b="5423"/>
          <a:stretch>
            <a:fillRect/>
          </a:stretch>
        </p:blipFill>
        <p:spPr>
          <a:xfrm>
            <a:off x="1453504" y="1555172"/>
            <a:ext cx="6236992" cy="3193949"/>
          </a:xfrm>
          <a:prstGeom prst="rect">
            <a:avLst/>
          </a:prstGeom>
        </p:spPr>
      </p:pic>
      <p:sp>
        <p:nvSpPr>
          <p:cNvPr id="7" name="TextBox 6">
            <a:extLst>
              <a:ext uri="{FF2B5EF4-FFF2-40B4-BE49-F238E27FC236}">
                <a16:creationId xmlns:a16="http://schemas.microsoft.com/office/drawing/2014/main" id="{AF2EA93D-E1D4-D05E-CF07-5DBEAD8C68C3}"/>
              </a:ext>
            </a:extLst>
          </p:cNvPr>
          <p:cNvSpPr txBox="1"/>
          <p:nvPr/>
        </p:nvSpPr>
        <p:spPr>
          <a:xfrm>
            <a:off x="3680570" y="4749121"/>
            <a:ext cx="1782859" cy="276999"/>
          </a:xfrm>
          <a:prstGeom prst="rect">
            <a:avLst/>
          </a:prstGeom>
          <a:noFill/>
        </p:spPr>
        <p:txBody>
          <a:bodyPr wrap="none" rtlCol="0">
            <a:spAutoFit/>
          </a:bodyPr>
          <a:lstStyle/>
          <a:p>
            <a:pPr algn="ctr"/>
            <a:r>
              <a:rPr lang="en-US" sz="1200" u="sng" dirty="0">
                <a:latin typeface="Gill Sans" panose="020B0604020202020204" charset="0"/>
              </a:rPr>
              <a:t>Overview of the Website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02C2-0B5C-3822-BFFF-1E7F1307FE5F}"/>
              </a:ext>
            </a:extLst>
          </p:cNvPr>
          <p:cNvSpPr>
            <a:spLocks noGrp="1"/>
          </p:cNvSpPr>
          <p:nvPr>
            <p:ph type="title"/>
          </p:nvPr>
        </p:nvSpPr>
        <p:spPr/>
        <p:txBody>
          <a:bodyPr/>
          <a:lstStyle/>
          <a:p>
            <a:r>
              <a:rPr lang="en-US" dirty="0"/>
              <a:t>SCREENSHOTS</a:t>
            </a:r>
          </a:p>
        </p:txBody>
      </p:sp>
      <p:pic>
        <p:nvPicPr>
          <p:cNvPr id="5" name="Picture 4">
            <a:extLst>
              <a:ext uri="{FF2B5EF4-FFF2-40B4-BE49-F238E27FC236}">
                <a16:creationId xmlns:a16="http://schemas.microsoft.com/office/drawing/2014/main" id="{E94B2E74-AA79-6F8B-A13A-B66EEFABE4B0}"/>
              </a:ext>
            </a:extLst>
          </p:cNvPr>
          <p:cNvPicPr>
            <a:picLocks noChangeAspect="1"/>
          </p:cNvPicPr>
          <p:nvPr/>
        </p:nvPicPr>
        <p:blipFill>
          <a:blip r:embed="rId2"/>
          <a:stretch>
            <a:fillRect/>
          </a:stretch>
        </p:blipFill>
        <p:spPr>
          <a:xfrm>
            <a:off x="1606741" y="1485467"/>
            <a:ext cx="5930517" cy="3335916"/>
          </a:xfrm>
          <a:prstGeom prst="rect">
            <a:avLst/>
          </a:prstGeom>
        </p:spPr>
      </p:pic>
      <p:sp>
        <p:nvSpPr>
          <p:cNvPr id="6" name="TextBox 5">
            <a:extLst>
              <a:ext uri="{FF2B5EF4-FFF2-40B4-BE49-F238E27FC236}">
                <a16:creationId xmlns:a16="http://schemas.microsoft.com/office/drawing/2014/main" id="{7C2D1867-9755-EF95-1C9A-ED9C37DD7267}"/>
              </a:ext>
            </a:extLst>
          </p:cNvPr>
          <p:cNvSpPr txBox="1"/>
          <p:nvPr/>
        </p:nvSpPr>
        <p:spPr>
          <a:xfrm>
            <a:off x="4078116" y="4749121"/>
            <a:ext cx="987771" cy="276999"/>
          </a:xfrm>
          <a:prstGeom prst="rect">
            <a:avLst/>
          </a:prstGeom>
          <a:noFill/>
        </p:spPr>
        <p:txBody>
          <a:bodyPr wrap="none" rtlCol="0">
            <a:spAutoFit/>
          </a:bodyPr>
          <a:lstStyle/>
          <a:p>
            <a:pPr algn="ctr"/>
            <a:r>
              <a:rPr lang="en-US" sz="1200" u="sng" dirty="0">
                <a:latin typeface="Gill Sans" panose="020B0604020202020204" charset="0"/>
              </a:rPr>
              <a:t>Sign Up Page</a:t>
            </a:r>
          </a:p>
        </p:txBody>
      </p:sp>
    </p:spTree>
    <p:extLst>
      <p:ext uri="{BB962C8B-B14F-4D97-AF65-F5344CB8AC3E}">
        <p14:creationId xmlns:p14="http://schemas.microsoft.com/office/powerpoint/2010/main" val="201982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08524-CD6F-9011-DA0C-EA6FC21742EF}"/>
              </a:ext>
            </a:extLst>
          </p:cNvPr>
          <p:cNvSpPr>
            <a:spLocks noGrp="1"/>
          </p:cNvSpPr>
          <p:nvPr>
            <p:ph type="title"/>
          </p:nvPr>
        </p:nvSpPr>
        <p:spPr/>
        <p:txBody>
          <a:bodyPr/>
          <a:lstStyle/>
          <a:p>
            <a:r>
              <a:rPr lang="en-US" dirty="0"/>
              <a:t>SCREENSHOTS</a:t>
            </a:r>
          </a:p>
        </p:txBody>
      </p:sp>
      <p:pic>
        <p:nvPicPr>
          <p:cNvPr id="4" name="Picture 3">
            <a:extLst>
              <a:ext uri="{FF2B5EF4-FFF2-40B4-BE49-F238E27FC236}">
                <a16:creationId xmlns:a16="http://schemas.microsoft.com/office/drawing/2014/main" id="{4D1F6D95-F1AD-7213-23CF-1260743DC6A5}"/>
              </a:ext>
            </a:extLst>
          </p:cNvPr>
          <p:cNvPicPr>
            <a:picLocks noChangeAspect="1"/>
          </p:cNvPicPr>
          <p:nvPr/>
        </p:nvPicPr>
        <p:blipFill>
          <a:blip r:embed="rId2"/>
          <a:stretch>
            <a:fillRect/>
          </a:stretch>
        </p:blipFill>
        <p:spPr>
          <a:xfrm>
            <a:off x="1448304" y="1397278"/>
            <a:ext cx="6247391" cy="3514158"/>
          </a:xfrm>
          <a:prstGeom prst="rect">
            <a:avLst/>
          </a:prstGeom>
        </p:spPr>
      </p:pic>
      <p:sp>
        <p:nvSpPr>
          <p:cNvPr id="5" name="TextBox 4">
            <a:extLst>
              <a:ext uri="{FF2B5EF4-FFF2-40B4-BE49-F238E27FC236}">
                <a16:creationId xmlns:a16="http://schemas.microsoft.com/office/drawing/2014/main" id="{53D6F280-6957-2B93-CBDF-6C1A191AED08}"/>
              </a:ext>
            </a:extLst>
          </p:cNvPr>
          <p:cNvSpPr txBox="1"/>
          <p:nvPr/>
        </p:nvSpPr>
        <p:spPr>
          <a:xfrm>
            <a:off x="4147847" y="4749121"/>
            <a:ext cx="848310" cy="276999"/>
          </a:xfrm>
          <a:prstGeom prst="rect">
            <a:avLst/>
          </a:prstGeom>
          <a:noFill/>
        </p:spPr>
        <p:txBody>
          <a:bodyPr wrap="none" rtlCol="0">
            <a:spAutoFit/>
          </a:bodyPr>
          <a:lstStyle/>
          <a:p>
            <a:pPr algn="ctr"/>
            <a:r>
              <a:rPr lang="en-US" sz="1200" u="sng" dirty="0">
                <a:latin typeface="Gill Sans" panose="020B0604020202020204" charset="0"/>
              </a:rPr>
              <a:t>Login Page</a:t>
            </a:r>
          </a:p>
        </p:txBody>
      </p:sp>
    </p:spTree>
    <p:extLst>
      <p:ext uri="{BB962C8B-B14F-4D97-AF65-F5344CB8AC3E}">
        <p14:creationId xmlns:p14="http://schemas.microsoft.com/office/powerpoint/2010/main" val="426218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dirty="0"/>
              <a:t>RESULTS</a:t>
            </a:r>
            <a:endParaRPr dirty="0"/>
          </a:p>
        </p:txBody>
      </p:sp>
      <p:pic>
        <p:nvPicPr>
          <p:cNvPr id="3" name="Picture 2">
            <a:extLst>
              <a:ext uri="{FF2B5EF4-FFF2-40B4-BE49-F238E27FC236}">
                <a16:creationId xmlns:a16="http://schemas.microsoft.com/office/drawing/2014/main" id="{69F6D6C1-BBDC-A127-CCB3-BA053F9A6440}"/>
              </a:ext>
            </a:extLst>
          </p:cNvPr>
          <p:cNvPicPr>
            <a:picLocks noChangeAspect="1"/>
          </p:cNvPicPr>
          <p:nvPr/>
        </p:nvPicPr>
        <p:blipFill>
          <a:blip r:embed="rId3"/>
          <a:stretch>
            <a:fillRect/>
          </a:stretch>
        </p:blipFill>
        <p:spPr>
          <a:xfrm>
            <a:off x="1503218" y="1455593"/>
            <a:ext cx="6137564" cy="3452380"/>
          </a:xfrm>
          <a:prstGeom prst="rect">
            <a:avLst/>
          </a:prstGeom>
        </p:spPr>
      </p:pic>
      <p:sp>
        <p:nvSpPr>
          <p:cNvPr id="4" name="TextBox 3">
            <a:extLst>
              <a:ext uri="{FF2B5EF4-FFF2-40B4-BE49-F238E27FC236}">
                <a16:creationId xmlns:a16="http://schemas.microsoft.com/office/drawing/2014/main" id="{B61EC9A6-AF44-ABF7-13CB-D9A44DCA433C}"/>
              </a:ext>
            </a:extLst>
          </p:cNvPr>
          <p:cNvSpPr txBox="1"/>
          <p:nvPr/>
        </p:nvSpPr>
        <p:spPr>
          <a:xfrm>
            <a:off x="3904188" y="4897060"/>
            <a:ext cx="1335623" cy="276999"/>
          </a:xfrm>
          <a:prstGeom prst="rect">
            <a:avLst/>
          </a:prstGeom>
          <a:noFill/>
        </p:spPr>
        <p:txBody>
          <a:bodyPr wrap="none" rtlCol="0">
            <a:spAutoFit/>
          </a:bodyPr>
          <a:lstStyle/>
          <a:p>
            <a:pPr algn="ctr"/>
            <a:r>
              <a:rPr lang="en-US" sz="1200" u="sng" dirty="0">
                <a:latin typeface="Gill Sans" panose="020B0604020202020204" charset="0"/>
              </a:rPr>
              <a:t>Donor Dashboard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086C6-DB2B-89C2-322A-35E4484AE917}"/>
              </a:ext>
            </a:extLst>
          </p:cNvPr>
          <p:cNvSpPr>
            <a:spLocks noGrp="1"/>
          </p:cNvSpPr>
          <p:nvPr>
            <p:ph type="title"/>
          </p:nvPr>
        </p:nvSpPr>
        <p:spPr/>
        <p:txBody>
          <a:bodyPr/>
          <a:lstStyle/>
          <a:p>
            <a:r>
              <a:rPr lang="en-US" dirty="0"/>
              <a:t>RESULTS</a:t>
            </a:r>
          </a:p>
        </p:txBody>
      </p:sp>
      <p:pic>
        <p:nvPicPr>
          <p:cNvPr id="5" name="Picture 4">
            <a:extLst>
              <a:ext uri="{FF2B5EF4-FFF2-40B4-BE49-F238E27FC236}">
                <a16:creationId xmlns:a16="http://schemas.microsoft.com/office/drawing/2014/main" id="{7E35B901-C566-884A-ADF2-2F76E60CA8C9}"/>
              </a:ext>
            </a:extLst>
          </p:cNvPr>
          <p:cNvPicPr>
            <a:picLocks noChangeAspect="1"/>
          </p:cNvPicPr>
          <p:nvPr/>
        </p:nvPicPr>
        <p:blipFill>
          <a:blip r:embed="rId2"/>
          <a:stretch>
            <a:fillRect/>
          </a:stretch>
        </p:blipFill>
        <p:spPr>
          <a:xfrm>
            <a:off x="1551709" y="1399308"/>
            <a:ext cx="6040582" cy="3397827"/>
          </a:xfrm>
          <a:prstGeom prst="rect">
            <a:avLst/>
          </a:prstGeom>
        </p:spPr>
      </p:pic>
      <p:sp>
        <p:nvSpPr>
          <p:cNvPr id="6" name="TextBox 5">
            <a:extLst>
              <a:ext uri="{FF2B5EF4-FFF2-40B4-BE49-F238E27FC236}">
                <a16:creationId xmlns:a16="http://schemas.microsoft.com/office/drawing/2014/main" id="{71BA3EA1-719D-7606-2866-41FFDB49136C}"/>
              </a:ext>
            </a:extLst>
          </p:cNvPr>
          <p:cNvSpPr txBox="1"/>
          <p:nvPr/>
        </p:nvSpPr>
        <p:spPr>
          <a:xfrm>
            <a:off x="3883064" y="4868437"/>
            <a:ext cx="1391728" cy="461665"/>
          </a:xfrm>
          <a:prstGeom prst="rect">
            <a:avLst/>
          </a:prstGeom>
          <a:noFill/>
        </p:spPr>
        <p:txBody>
          <a:bodyPr wrap="none" rtlCol="0">
            <a:spAutoFit/>
          </a:bodyPr>
          <a:lstStyle/>
          <a:p>
            <a:pPr algn="ctr"/>
            <a:r>
              <a:rPr lang="en-US" sz="1200" u="sng" dirty="0">
                <a:latin typeface="Gill Sans" panose="020B0604020202020204" charset="0"/>
              </a:rPr>
              <a:t>Donor Food  Entry</a:t>
            </a:r>
          </a:p>
          <a:p>
            <a:pPr algn="ctr"/>
            <a:endParaRPr lang="en-US" sz="1200" u="sng" dirty="0">
              <a:latin typeface="Gill Sans" panose="020B0604020202020204" charset="0"/>
            </a:endParaRPr>
          </a:p>
        </p:txBody>
      </p:sp>
    </p:spTree>
    <p:extLst>
      <p:ext uri="{BB962C8B-B14F-4D97-AF65-F5344CB8AC3E}">
        <p14:creationId xmlns:p14="http://schemas.microsoft.com/office/powerpoint/2010/main" val="3605519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a:t>FUTURE WORK</a:t>
            </a:r>
            <a:endParaRPr/>
          </a:p>
        </p:txBody>
      </p:sp>
      <p:sp>
        <p:nvSpPr>
          <p:cNvPr id="162" name="Google Shape;162;p12"/>
          <p:cNvSpPr txBox="1">
            <a:spLocks noGrp="1"/>
          </p:cNvSpPr>
          <p:nvPr>
            <p:ph type="body" idx="1"/>
          </p:nvPr>
        </p:nvSpPr>
        <p:spPr>
          <a:xfrm>
            <a:off x="283319" y="2017366"/>
            <a:ext cx="7989900" cy="2723100"/>
          </a:xfrm>
          <a:prstGeom prst="rect">
            <a:avLst/>
          </a:prstGeom>
          <a:noFill/>
          <a:ln>
            <a:noFill/>
          </a:ln>
        </p:spPr>
        <p:txBody>
          <a:bodyPr spcFirstLastPara="1" wrap="square" lIns="91425" tIns="45700" rIns="91425" bIns="45700" anchor="ctr" anchorCtr="0">
            <a:normAutofit/>
          </a:bodyPr>
          <a:lstStyle/>
          <a:p>
            <a:r>
              <a:rPr lang="en-US" dirty="0"/>
              <a:t>Develop a </a:t>
            </a:r>
            <a:r>
              <a:rPr lang="en-US" b="1" dirty="0"/>
              <a:t>mobile application</a:t>
            </a:r>
            <a:r>
              <a:rPr lang="en-US" dirty="0"/>
              <a:t> for easier access and real-time notifications.</a:t>
            </a:r>
          </a:p>
          <a:p>
            <a:r>
              <a:rPr lang="en-US" dirty="0"/>
              <a:t>Implement </a:t>
            </a:r>
            <a:r>
              <a:rPr lang="en-US" b="1" dirty="0"/>
              <a:t>AI-based prediction</a:t>
            </a:r>
            <a:r>
              <a:rPr lang="en-US" dirty="0"/>
              <a:t> to forecast food demand and donation trends.</a:t>
            </a:r>
          </a:p>
          <a:p>
            <a:r>
              <a:rPr lang="en-US" dirty="0"/>
              <a:t>Add </a:t>
            </a:r>
            <a:r>
              <a:rPr lang="en-US" b="1" dirty="0"/>
              <a:t>real-time delivery tracking</a:t>
            </a:r>
            <a:r>
              <a:rPr lang="en-US" dirty="0"/>
              <a:t> and automated pickup scheduling.</a:t>
            </a:r>
          </a:p>
          <a:p>
            <a:r>
              <a:rPr lang="en-US" dirty="0"/>
              <a:t>Integrate </a:t>
            </a:r>
            <a:r>
              <a:rPr lang="en-US" b="1" dirty="0"/>
              <a:t>multi-language support</a:t>
            </a:r>
            <a:r>
              <a:rPr lang="en-US" dirty="0"/>
              <a:t> to increase accessibility.</a:t>
            </a:r>
          </a:p>
          <a:p>
            <a:r>
              <a:rPr lang="en-US" dirty="0"/>
              <a:t>Collaborate with </a:t>
            </a:r>
            <a:r>
              <a:rPr lang="en-US" b="1" dirty="0"/>
              <a:t>government agencies and NGOs</a:t>
            </a:r>
            <a:r>
              <a:rPr lang="en-US" dirty="0"/>
              <a:t> for wider community impact.</a:t>
            </a:r>
          </a:p>
          <a:p>
            <a:pPr marL="306000" lvl="0" indent="-200844" algn="l" rtl="0">
              <a:spcBef>
                <a:spcPts val="0"/>
              </a:spcBef>
              <a:spcAft>
                <a:spcPts val="0"/>
              </a:spcAft>
              <a:buSzPts val="1656"/>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3"/>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a:t>CONCLUSION</a:t>
            </a:r>
            <a:endParaRPr/>
          </a:p>
        </p:txBody>
      </p:sp>
      <p:sp>
        <p:nvSpPr>
          <p:cNvPr id="168" name="Google Shape;168;p13"/>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p>
            <a:pPr marL="123444" indent="0">
              <a:buNone/>
            </a:pPr>
            <a:r>
              <a:rPr lang="en-US" dirty="0"/>
              <a:t>The </a:t>
            </a:r>
            <a:r>
              <a:rPr lang="en-US" i="1" dirty="0"/>
              <a:t>Food Donation and Redistribution Platform</a:t>
            </a:r>
            <a:r>
              <a:rPr lang="en-US" dirty="0"/>
              <a:t> effectively connects food donors with receivers, reducing food waste and supporting community welfare.</a:t>
            </a:r>
            <a:br>
              <a:rPr lang="en-US" dirty="0"/>
            </a:br>
            <a:r>
              <a:rPr lang="en-US" dirty="0"/>
              <a:t>By using smart matching, location-based services, and an easy-to-use interface, it ensures efficient and ethical food distribution.</a:t>
            </a:r>
            <a:br>
              <a:rPr lang="en-US" dirty="0"/>
            </a:br>
            <a:r>
              <a:rPr lang="en-US" dirty="0"/>
              <a:t>The project promotes sustainability, social responsibility, and contributes to solving food insecurity in society.</a:t>
            </a:r>
            <a:br>
              <a:rPr lang="en-US" dirty="0"/>
            </a:br>
            <a:r>
              <a:rPr lang="en-US" dirty="0"/>
              <a:t>It demonstrates how technology can be leveraged to create a positive social and environmental impact.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4"/>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sz="2800" b="0" cap="none">
                <a:solidFill>
                  <a:schemeClr val="lt1"/>
                </a:solidFill>
                <a:latin typeface="Gill Sans"/>
                <a:ea typeface="Gill Sans"/>
                <a:cs typeface="Gill Sans"/>
                <a:sym typeface="Gill Sans"/>
              </a:rPr>
              <a:t>REFERENCES</a:t>
            </a:r>
            <a:endParaRPr/>
          </a:p>
        </p:txBody>
      </p:sp>
      <p:sp>
        <p:nvSpPr>
          <p:cNvPr id="174" name="Google Shape;174;p14"/>
          <p:cNvSpPr txBox="1">
            <a:spLocks noGrp="1"/>
          </p:cNvSpPr>
          <p:nvPr>
            <p:ph type="body" idx="1"/>
          </p:nvPr>
        </p:nvSpPr>
        <p:spPr>
          <a:xfrm>
            <a:off x="577050" y="1511673"/>
            <a:ext cx="7989900" cy="3472499"/>
          </a:xfrm>
          <a:prstGeom prst="rect">
            <a:avLst/>
          </a:prstGeom>
          <a:noFill/>
          <a:ln>
            <a:noFill/>
          </a:ln>
        </p:spPr>
        <p:txBody>
          <a:bodyPr spcFirstLastPara="1" wrap="square" lIns="91425" tIns="45700" rIns="91425" bIns="45700" anchor="ctr" anchorCtr="0">
            <a:normAutofit fontScale="77500" lnSpcReduction="20000"/>
          </a:bodyPr>
          <a:lstStyle/>
          <a:p>
            <a:pPr marL="306000" lvl="0" indent="-306000" algn="just" rtl="0">
              <a:spcBef>
                <a:spcPts val="0"/>
              </a:spcBef>
              <a:spcAft>
                <a:spcPts val="0"/>
              </a:spcAft>
              <a:buSzPts val="1656"/>
              <a:buChar char="⬛"/>
            </a:pPr>
            <a:r>
              <a:rPr lang="en-US" sz="3200" b="1" dirty="0"/>
              <a:t>Books / Research papers :-</a:t>
            </a:r>
          </a:p>
          <a:p>
            <a:pPr marL="306000" lvl="0" indent="-306000" algn="just" rtl="0">
              <a:spcBef>
                <a:spcPts val="0"/>
              </a:spcBef>
              <a:spcAft>
                <a:spcPts val="0"/>
              </a:spcAft>
              <a:buSzPts val="1656"/>
              <a:buChar char="⬛"/>
            </a:pPr>
            <a:endParaRPr lang="en-US" sz="2000" dirty="0"/>
          </a:p>
          <a:p>
            <a:pPr marL="0" lvl="0" indent="0" algn="just">
              <a:spcBef>
                <a:spcPts val="0"/>
              </a:spcBef>
              <a:buNone/>
            </a:pPr>
            <a:r>
              <a:rPr lang="en-US" sz="2000" dirty="0"/>
              <a:t>1) Esparza, Elizabeth. "Best Practices in Technology-Based Solutions for Food Redistribution.“</a:t>
            </a:r>
          </a:p>
          <a:p>
            <a:pPr marL="0" lvl="0" indent="0" algn="just">
              <a:spcBef>
                <a:spcPts val="0"/>
              </a:spcBef>
              <a:buNone/>
            </a:pPr>
            <a:r>
              <a:rPr lang="en-US" sz="2000" dirty="0"/>
              <a:t> 2) Vijay, K., Thilak Kumar, D. Srinidhi, and S. Ujjain. "Serve Surplus: A Smart Food Redistribution Platform for Reducing Urban Food Waste and Combating Hunger." In 2025 3rd International Conference on Sustainable Computing and Data Communication Systems (ICSCDS), pp. 1734-1738. IEEE, 2025</a:t>
            </a:r>
          </a:p>
          <a:p>
            <a:pPr marL="0" lvl="0" indent="0" algn="just">
              <a:spcBef>
                <a:spcPts val="0"/>
              </a:spcBef>
              <a:buNone/>
            </a:pPr>
            <a:r>
              <a:rPr lang="en-US" sz="2000" dirty="0"/>
              <a:t>3) Murthy, Ramana, R. Rajesh Sharma, Anmol Kaul, C. S. Nithya, and S. Himabindu. "Digital Stage for Surplus Food Redistribution: Undertaking Food Waste Through Online Donations." In 2024 International Conference on Signal Processing and Advance Research in Computing (SPARC), vol. 1, pp. 1-5. IEEE, 2024.</a:t>
            </a:r>
          </a:p>
          <a:p>
            <a:pPr marL="0" lvl="0" indent="0" algn="just">
              <a:spcBef>
                <a:spcPts val="0"/>
              </a:spcBef>
              <a:buNone/>
            </a:pPr>
            <a:r>
              <a:rPr lang="en-US" sz="2000" dirty="0"/>
              <a:t>4) Chakraborty, Sudeshna, Anshumaan Sharma, Shivam Raj, and </a:t>
            </a:r>
            <a:r>
              <a:rPr lang="en-US" sz="2000" dirty="0" err="1"/>
              <a:t>Nirupma</a:t>
            </a:r>
            <a:r>
              <a:rPr lang="en-US" sz="2000" dirty="0"/>
              <a:t> Singh. "A Smart Waste Food Management and Donation Platform Leveraging Machine Learning and Web Technologies." In International Conference On Innovative Computing And Communication, pp. 549-564. Singapore: Springer Nature Singapore, 2025.</a:t>
            </a:r>
            <a:endParaRPr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5"/>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a:t>ACKNOWLEDGEMENT</a:t>
            </a:r>
            <a:endParaRPr/>
          </a:p>
        </p:txBody>
      </p:sp>
      <p:sp>
        <p:nvSpPr>
          <p:cNvPr id="3" name="TextBox 2">
            <a:extLst>
              <a:ext uri="{FF2B5EF4-FFF2-40B4-BE49-F238E27FC236}">
                <a16:creationId xmlns:a16="http://schemas.microsoft.com/office/drawing/2014/main" id="{FED28488-DE67-B39C-4F6F-E6DB65FFC93F}"/>
              </a:ext>
            </a:extLst>
          </p:cNvPr>
          <p:cNvSpPr txBox="1"/>
          <p:nvPr/>
        </p:nvSpPr>
        <p:spPr>
          <a:xfrm>
            <a:off x="581192" y="1495473"/>
            <a:ext cx="8140244" cy="1754326"/>
          </a:xfrm>
          <a:prstGeom prst="rect">
            <a:avLst/>
          </a:prstGeom>
          <a:noFill/>
        </p:spPr>
        <p:txBody>
          <a:bodyPr wrap="square">
            <a:spAutoFit/>
          </a:bodyPr>
          <a:lstStyle/>
          <a:p>
            <a:r>
              <a:rPr lang="en-US" sz="1800" dirty="0">
                <a:latin typeface="Gill Sans" panose="020B0604020202020204" charset="0"/>
              </a:rPr>
              <a:t>I am profoundly grateful to </a:t>
            </a:r>
            <a:r>
              <a:rPr lang="en-US" sz="1800" b="1" dirty="0">
                <a:latin typeface="Gill Sans" panose="020B0604020202020204" charset="0"/>
              </a:rPr>
              <a:t>Prof. Manila Gupta </a:t>
            </a:r>
            <a:r>
              <a:rPr lang="en-US" sz="1800" dirty="0">
                <a:latin typeface="Gill Sans" panose="020B0604020202020204" charset="0"/>
              </a:rPr>
              <a:t>for her expert guidance and continuous encouragement. I would like to express deepest appreciation towards </a:t>
            </a:r>
            <a:r>
              <a:rPr lang="en-US" sz="1800" b="1" dirty="0">
                <a:latin typeface="Gill Sans" panose="020B0604020202020204" charset="0"/>
              </a:rPr>
              <a:t>Dr. Varsha Shah</a:t>
            </a:r>
            <a:r>
              <a:rPr lang="en-US" sz="1800" dirty="0">
                <a:latin typeface="Gill Sans" panose="020B0604020202020204" charset="0"/>
              </a:rPr>
              <a:t>, Principal RCOE, Mumbai and </a:t>
            </a:r>
            <a:r>
              <a:rPr lang="en-US" sz="1800" b="1" dirty="0">
                <a:latin typeface="Gill Sans" panose="020B0604020202020204" charset="0"/>
              </a:rPr>
              <a:t>Prof. Mohd. Juned</a:t>
            </a:r>
            <a:r>
              <a:rPr lang="en-US" sz="1800" dirty="0">
                <a:latin typeface="Gill Sans" panose="020B0604020202020204" charset="0"/>
              </a:rPr>
              <a:t> ,HOD Department of Computer Engineering RCOE for their invaluable guidance. Finally, I must express my sincere heartfelt gratitude to all the staff members of the Computer Engineering Department.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6"/>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a:t>PAPER PUBLICATION</a:t>
            </a:r>
            <a:endParaRPr/>
          </a:p>
        </p:txBody>
      </p:sp>
      <p:sp>
        <p:nvSpPr>
          <p:cNvPr id="186" name="Google Shape;186;p16"/>
          <p:cNvSpPr txBox="1">
            <a:spLocks noGrp="1"/>
          </p:cNvSpPr>
          <p:nvPr>
            <p:ph type="body" idx="1"/>
          </p:nvPr>
        </p:nvSpPr>
        <p:spPr>
          <a:xfrm>
            <a:off x="577050" y="1477038"/>
            <a:ext cx="7989900" cy="900748"/>
          </a:xfrm>
          <a:prstGeom prst="rect">
            <a:avLst/>
          </a:prstGeom>
          <a:noFill/>
          <a:ln>
            <a:noFill/>
          </a:ln>
        </p:spPr>
        <p:txBody>
          <a:bodyPr spcFirstLastPara="1" wrap="square" lIns="91425" tIns="45700" rIns="91425" bIns="45700" anchor="ctr" anchorCtr="0">
            <a:normAutofit/>
          </a:bodyPr>
          <a:lstStyle/>
          <a:p>
            <a:pPr>
              <a:buFont typeface="Arial" panose="020B0604020202020204" pitchFamily="34" charset="0"/>
              <a:buChar char="•"/>
            </a:pPr>
            <a:r>
              <a:rPr lang="en-US" sz="1200" dirty="0"/>
              <a:t>Publications:-</a:t>
            </a:r>
          </a:p>
          <a:p>
            <a:pPr marL="123444" indent="0">
              <a:buNone/>
            </a:pPr>
            <a:r>
              <a:rPr lang="en-US" sz="1000" dirty="0"/>
              <a:t>We are pleased to announce that our research paper has been accepted for publication in the International Journal of Research and Analytical Reviews (IJRAR), a UGC-approved, peer-reviewed journal.</a:t>
            </a:r>
            <a:br>
              <a:rPr lang="en-US" sz="1000" dirty="0"/>
            </a:br>
            <a:r>
              <a:rPr lang="en-US" sz="1000" dirty="0"/>
              <a:t>This acceptance reflects the quality and relevance of our work in the field of digital signage systems.</a:t>
            </a:r>
          </a:p>
          <a:p>
            <a:pPr marL="306000" lvl="0" indent="-200844" algn="l" rtl="0">
              <a:spcBef>
                <a:spcPts val="0"/>
              </a:spcBef>
              <a:spcAft>
                <a:spcPts val="0"/>
              </a:spcAft>
              <a:buSzPts val="1656"/>
              <a:buNone/>
            </a:pPr>
            <a:endParaRPr dirty="0"/>
          </a:p>
        </p:txBody>
      </p:sp>
      <p:pic>
        <p:nvPicPr>
          <p:cNvPr id="5" name="Picture 4">
            <a:extLst>
              <a:ext uri="{FF2B5EF4-FFF2-40B4-BE49-F238E27FC236}">
                <a16:creationId xmlns:a16="http://schemas.microsoft.com/office/drawing/2014/main" id="{C50F471B-F3C3-828D-A847-B2BD0DA45FC3}"/>
              </a:ext>
            </a:extLst>
          </p:cNvPr>
          <p:cNvPicPr>
            <a:picLocks noChangeAspect="1"/>
          </p:cNvPicPr>
          <p:nvPr/>
        </p:nvPicPr>
        <p:blipFill>
          <a:blip r:embed="rId3"/>
          <a:stretch>
            <a:fillRect/>
          </a:stretch>
        </p:blipFill>
        <p:spPr>
          <a:xfrm>
            <a:off x="1614423" y="2329295"/>
            <a:ext cx="5915154" cy="2672196"/>
          </a:xfrm>
          <a:prstGeom prst="rect">
            <a:avLst/>
          </a:prstGeom>
        </p:spPr>
      </p:pic>
    </p:spTree>
  </p:cSld>
  <p:clrMapOvr>
    <a:masterClrMapping/>
  </p:clrMapOvr>
</p:sld>
</file>

<file path=ppt/theme/theme1.xml><?xml version="1.0" encoding="utf-8"?>
<a:theme xmlns:a="http://schemas.openxmlformats.org/drawingml/2006/main" name="Dividend">
  <a:themeElements>
    <a:clrScheme name="Dividend">
      <a:dk1>
        <a:srgbClr val="000000"/>
      </a:dk1>
      <a:lt1>
        <a:srgbClr val="FFFFFF"/>
      </a:lt1>
      <a:dk2>
        <a:srgbClr val="3D3D3D"/>
      </a:dk2>
      <a:lt2>
        <a:srgbClr val="EBEBEB"/>
      </a:lt2>
      <a:accent1>
        <a:srgbClr val="465359"/>
      </a:accent1>
      <a:accent2>
        <a:srgbClr val="ED8428"/>
      </a:accent2>
      <a:accent3>
        <a:srgbClr val="E6C46D"/>
      </a:accent3>
      <a:accent4>
        <a:srgbClr val="969FA7"/>
      </a:accent4>
      <a:accent5>
        <a:srgbClr val="A9C37C"/>
      </a:accent5>
      <a:accent6>
        <a:srgbClr val="5A8071"/>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1455</Words>
  <Application>Microsoft Office PowerPoint</Application>
  <PresentationFormat>On-screen Show (16:9)</PresentationFormat>
  <Paragraphs>108</Paragraphs>
  <Slides>21</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Gill Sans</vt:lpstr>
      <vt:lpstr>Noto Sans Symbols</vt:lpstr>
      <vt:lpstr>Arial</vt:lpstr>
      <vt:lpstr>Dividend</vt:lpstr>
      <vt:lpstr>PowerPoint Presentation</vt:lpstr>
      <vt:lpstr>ABSTRACT</vt:lpstr>
      <vt:lpstr>TABLE OF CONTENTS</vt:lpstr>
      <vt:lpstr>INTRODUCTION</vt:lpstr>
      <vt:lpstr>LITERATURE REVIEW</vt:lpstr>
      <vt:lpstr>Comparative Table</vt:lpstr>
      <vt:lpstr>WORKING OF PROJECT</vt:lpstr>
      <vt:lpstr>WORKING OF PROJECT</vt:lpstr>
      <vt:lpstr>WORKING OF PROJECT</vt:lpstr>
      <vt:lpstr>HARDWARE &amp; SOFTWARE DETAILS</vt:lpstr>
      <vt:lpstr>HARDWARE &amp; SOFTWARE DETAILS</vt:lpstr>
      <vt:lpstr>SCREENSHOTS</vt:lpstr>
      <vt:lpstr>SCREENSHOTS</vt:lpstr>
      <vt:lpstr>SCREENSHOTS</vt:lpstr>
      <vt:lpstr>RESULTS</vt:lpstr>
      <vt:lpstr>RESULTS</vt:lpstr>
      <vt:lpstr>FUTURE WORK</vt:lpstr>
      <vt:lpstr>CONCLUSION</vt:lpstr>
      <vt:lpstr>REFERENCES</vt:lpstr>
      <vt:lpstr>ACKNOWLEDGEMENT</vt:lpstr>
      <vt:lpstr>PAPER PUBLICATION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Ramya Kanagaraj</dc:creator>
  <cp:lastModifiedBy>Mugaira Pathan</cp:lastModifiedBy>
  <cp:revision>12</cp:revision>
  <dcterms:created xsi:type="dcterms:W3CDTF">2013-01-27T09:14:16Z</dcterms:created>
  <dcterms:modified xsi:type="dcterms:W3CDTF">2025-10-15T04:32:55Z</dcterms:modified>
</cp:coreProperties>
</file>